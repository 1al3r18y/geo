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0" r:id="rId2"/>
    <p:sldId id="291" r:id="rId3"/>
  </p:sldIdLst>
  <p:sldSz cx="6858000" cy="9906000" type="A4"/>
  <p:notesSz cx="7556500" cy="10693400"/>
  <p:defaultTextStyle>
    <a:defPPr>
      <a:defRPr lang="en-US"/>
    </a:defPPr>
    <a:lvl1pPr marL="0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8" userDrawn="1">
          <p15:clr>
            <a:srgbClr val="A4A3A4"/>
          </p15:clr>
        </p15:guide>
        <p15:guide id="2" pos="19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1818"/>
    <a:srgbClr val="F61828"/>
    <a:srgbClr val="F4E9E9"/>
    <a:srgbClr val="CC00CC"/>
    <a:srgbClr val="8064A2"/>
    <a:srgbClr val="FAC090"/>
    <a:srgbClr val="8C2070"/>
    <a:srgbClr val="B9CDE5"/>
    <a:srgbClr val="00B05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1" autoAdjust="0"/>
    <p:restoredTop sz="96340" autoAdjust="0"/>
  </p:normalViewPr>
  <p:slideViewPr>
    <p:cSldViewPr>
      <p:cViewPr varScale="1">
        <p:scale>
          <a:sx n="77" d="100"/>
          <a:sy n="77" d="100"/>
        </p:scale>
        <p:origin x="3018" y="108"/>
      </p:cViewPr>
      <p:guideLst>
        <p:guide orient="horz" pos="2668"/>
        <p:guide pos="19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196E3-39BA-4D0F-AD79-B4EA46CF747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336675"/>
            <a:ext cx="24987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13985-7287-4A39-8B4E-679FB4518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9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8888" y="1336675"/>
            <a:ext cx="2498725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13985-7287-4A39-8B4E-679FB45189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15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8888" y="1336675"/>
            <a:ext cx="2498725" cy="3608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913985-7287-4A39-8B4E-679FB45189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13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782" y="3070860"/>
            <a:ext cx="583419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9565" y="5547360"/>
            <a:ext cx="480463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3188" y="2278380"/>
            <a:ext cx="29857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4838" y="2278380"/>
            <a:ext cx="29857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188" y="396240"/>
            <a:ext cx="61773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3188" y="2278380"/>
            <a:ext cx="61773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0364" y="9452095"/>
            <a:ext cx="912287" cy="18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en-US" spc="-54"/>
              <a:t>DuniaAlrehlat</a:t>
            </a:r>
            <a:endParaRPr lang="en-US" spc="-54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674340" y="9452095"/>
            <a:ext cx="2912633" cy="18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527">
              <a:spcBef>
                <a:spcPts val="445"/>
              </a:spcBef>
            </a:pPr>
            <a:r>
              <a:rPr lang="ar-IQ" spc="-41"/>
              <a:t>ضا</a:t>
            </a:r>
            <a:r>
              <a:rPr lang="ar-IQ" spc="27"/>
              <a:t>ي</a:t>
            </a:r>
            <a:r>
              <a:rPr lang="ar-IQ" spc="-45"/>
              <a:t>رلا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27"/>
              <a:t>زلملا</a:t>
            </a:r>
            <a:r>
              <a:rPr lang="ar-IQ" spc="-73"/>
              <a:t> </a:t>
            </a:r>
            <a:r>
              <a:rPr lang="ar-IQ" spc="141"/>
              <a:t>يح</a:t>
            </a:r>
            <a:r>
              <a:rPr lang="ar-IQ" spc="-73"/>
              <a:t> </a:t>
            </a:r>
            <a:r>
              <a:rPr lang="ar-IQ" spc="45"/>
              <a:t>،ءاسحلإا</a:t>
            </a:r>
            <a:r>
              <a:rPr lang="ar-IQ" spc="-73"/>
              <a:t> </a:t>
            </a:r>
            <a:r>
              <a:rPr lang="ar-IQ" spc="14"/>
              <a:t>عراش</a:t>
            </a:r>
            <a:r>
              <a:rPr lang="ar-IQ" spc="-73"/>
              <a:t> </a:t>
            </a:r>
            <a:r>
              <a:rPr lang="ar-IQ" spc="82"/>
              <a:t>-</a:t>
            </a:r>
            <a:r>
              <a:rPr lang="ar-IQ" spc="-73"/>
              <a:t> </a:t>
            </a:r>
            <a:r>
              <a:rPr lang="ar-IQ" spc="14"/>
              <a:t>تلاحرلا</a:t>
            </a:r>
            <a:r>
              <a:rPr lang="ar-IQ" spc="-73"/>
              <a:t> </a:t>
            </a:r>
            <a:r>
              <a:rPr lang="ar-IQ" spc="-91"/>
              <a:t>ايند</a:t>
            </a:r>
            <a:endParaRPr lang="ar-IQ" spc="-91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41910" y="9212580"/>
            <a:ext cx="1578665" cy="25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B4851ED-B795-4134-83AE-1FFBA5315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5400000">
            <a:off x="-1425198" y="1525728"/>
            <a:ext cx="9704937" cy="685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Graphic 197">
            <a:extLst>
              <a:ext uri="{FF2B5EF4-FFF2-40B4-BE49-F238E27FC236}">
                <a16:creationId xmlns:a16="http://schemas.microsoft.com/office/drawing/2014/main" id="{89533E1A-0AC4-4A89-9FA7-7DC8360AB2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227" b="21214"/>
          <a:stretch/>
        </p:blipFill>
        <p:spPr>
          <a:xfrm flipH="1">
            <a:off x="152400" y="6579180"/>
            <a:ext cx="3741572" cy="9399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894C86D-4F2A-4FC3-B728-C7837E9F3D80}"/>
              </a:ext>
            </a:extLst>
          </p:cNvPr>
          <p:cNvSpPr txBox="1"/>
          <p:nvPr/>
        </p:nvSpPr>
        <p:spPr>
          <a:xfrm>
            <a:off x="3277353" y="7069929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خطوط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اتصال 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FEE145-9EC8-48E7-826F-EC91021D9578}"/>
              </a:ext>
            </a:extLst>
          </p:cNvPr>
          <p:cNvGrpSpPr/>
          <p:nvPr/>
        </p:nvGrpSpPr>
        <p:grpSpPr>
          <a:xfrm>
            <a:off x="346199" y="6400800"/>
            <a:ext cx="3623973" cy="784975"/>
            <a:chOff x="3099515" y="8387552"/>
            <a:chExt cx="2014059" cy="4429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522E01-03E9-4492-A2F8-2C95AE89DC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24" t="77064" r="54639" b="9480"/>
            <a:stretch/>
          </p:blipFill>
          <p:spPr>
            <a:xfrm>
              <a:off x="3099515" y="8387552"/>
              <a:ext cx="1219201" cy="4429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19F208-D1DB-40ED-8EED-1A0639225D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97" t="66155" r="62625" b="21246"/>
            <a:stretch/>
          </p:blipFill>
          <p:spPr>
            <a:xfrm>
              <a:off x="4199173" y="8401640"/>
              <a:ext cx="914401" cy="414765"/>
            </a:xfrm>
            <a:prstGeom prst="rect">
              <a:avLst/>
            </a:prstGeom>
          </p:spPr>
        </p:pic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9FE290B-4BF5-43CE-93F7-D687B3D46D0A}"/>
              </a:ext>
            </a:extLst>
          </p:cNvPr>
          <p:cNvGrpSpPr/>
          <p:nvPr/>
        </p:nvGrpSpPr>
        <p:grpSpPr>
          <a:xfrm>
            <a:off x="280190" y="1700249"/>
            <a:ext cx="1936263" cy="2321671"/>
            <a:chOff x="1292300" y="1542111"/>
            <a:chExt cx="2155749" cy="3763815"/>
          </a:xfrm>
        </p:grpSpPr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25F78863-3C27-4AD2-8C4B-9A7623681FA9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0DFA797-4688-4ED0-B8B4-9A7F3BAC69FC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الثالث</a:t>
              </a:r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5" name="Rectangle: Rounded Corners 214">
              <a:extLst>
                <a:ext uri="{FF2B5EF4-FFF2-40B4-BE49-F238E27FC236}">
                  <a16:creationId xmlns:a16="http://schemas.microsoft.com/office/drawing/2014/main" id="{446CABE4-84AC-41CA-9CF2-A642D956E166}"/>
                </a:ext>
              </a:extLst>
            </p:cNvPr>
            <p:cNvSpPr/>
            <p:nvPr/>
          </p:nvSpPr>
          <p:spPr>
            <a:xfrm>
              <a:off x="1650287" y="4913925"/>
              <a:ext cx="1360046" cy="32804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latin typeface="Tajawal" panose="00000500000000000000" pitchFamily="2" charset="-78"/>
                  <a:cs typeface="Tajawal" panose="00000500000000000000" pitchFamily="2" charset="-78"/>
                </a:rPr>
                <a:t>خمس نجوم</a:t>
              </a:r>
              <a:endParaRPr lang="en-US" sz="908" b="1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FDD19029-3264-4275-B29E-97E428BB8C2F}"/>
              </a:ext>
            </a:extLst>
          </p:cNvPr>
          <p:cNvSpPr/>
          <p:nvPr/>
        </p:nvSpPr>
        <p:spPr>
          <a:xfrm>
            <a:off x="378739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8" name="PW3">
            <a:extLst>
              <a:ext uri="{FF2B5EF4-FFF2-40B4-BE49-F238E27FC236}">
                <a16:creationId xmlns:a16="http://schemas.microsoft.com/office/drawing/2014/main" id="{DB8A999E-A965-48B0-B565-7E7FE1CAE282}"/>
              </a:ext>
            </a:extLst>
          </p:cNvPr>
          <p:cNvSpPr txBox="1"/>
          <p:nvPr/>
        </p:nvSpPr>
        <p:spPr>
          <a:xfrm>
            <a:off x="310341" y="1969198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{{O3_Price_NV}}</a:t>
            </a:r>
            <a:endParaRPr lang="ar-IQ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7948E3DB-98D5-4AD2-9CE8-37028205400F}"/>
              </a:ext>
            </a:extLst>
          </p:cNvPr>
          <p:cNvSpPr/>
          <p:nvPr/>
        </p:nvSpPr>
        <p:spPr>
          <a:xfrm>
            <a:off x="1323855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23" name="PV3">
            <a:extLst>
              <a:ext uri="{FF2B5EF4-FFF2-40B4-BE49-F238E27FC236}">
                <a16:creationId xmlns:a16="http://schemas.microsoft.com/office/drawing/2014/main" id="{4761866A-94A2-4A09-B76A-209B34E90415}"/>
              </a:ext>
            </a:extLst>
          </p:cNvPr>
          <p:cNvSpPr txBox="1"/>
          <p:nvPr/>
        </p:nvSpPr>
        <p:spPr>
          <a:xfrm>
            <a:off x="1013922" y="2026080"/>
            <a:ext cx="1361270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{{O3_Price_V}}</a:t>
            </a:r>
            <a:endParaRPr lang="en-US" sz="726" b="1" dirty="0">
              <a:solidFill>
                <a:schemeClr val="accent5">
                  <a:lumMod val="20000"/>
                  <a:lumOff val="80000"/>
                </a:schemeClr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48" name="object 6">
            <a:extLst>
              <a:ext uri="{FF2B5EF4-FFF2-40B4-BE49-F238E27FC236}">
                <a16:creationId xmlns:a16="http://schemas.microsoft.com/office/drawing/2014/main" id="{595348B5-EDBD-4062-8134-74A9D785D347}"/>
              </a:ext>
            </a:extLst>
          </p:cNvPr>
          <p:cNvSpPr/>
          <p:nvPr/>
        </p:nvSpPr>
        <p:spPr>
          <a:xfrm>
            <a:off x="-1" y="0"/>
            <a:ext cx="6861457" cy="719965"/>
          </a:xfrm>
          <a:custGeom>
            <a:avLst/>
            <a:gdLst/>
            <a:ahLst/>
            <a:cxnLst/>
            <a:rect l="l" t="t" r="r" b="b"/>
            <a:pathLst>
              <a:path w="7560309" h="459105">
                <a:moveTo>
                  <a:pt x="0" y="458986"/>
                </a:moveTo>
                <a:lnTo>
                  <a:pt x="7559992" y="458986"/>
                </a:lnTo>
                <a:lnTo>
                  <a:pt x="7559992" y="0"/>
                </a:lnTo>
                <a:lnTo>
                  <a:pt x="0" y="0"/>
                </a:lnTo>
                <a:lnTo>
                  <a:pt x="0" y="458986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9" name="object 56">
            <a:extLst>
              <a:ext uri="{FF2B5EF4-FFF2-40B4-BE49-F238E27FC236}">
                <a16:creationId xmlns:a16="http://schemas.microsoft.com/office/drawing/2014/main" id="{B8400798-2355-40E7-9625-1E4E09736EF2}"/>
              </a:ext>
            </a:extLst>
          </p:cNvPr>
          <p:cNvSpPr/>
          <p:nvPr/>
        </p:nvSpPr>
        <p:spPr>
          <a:xfrm>
            <a:off x="0" y="9675991"/>
            <a:ext cx="6861457" cy="230009"/>
          </a:xfrm>
          <a:custGeom>
            <a:avLst/>
            <a:gdLst/>
            <a:ahLst/>
            <a:cxnLst/>
            <a:rect l="l" t="t" r="r" b="b"/>
            <a:pathLst>
              <a:path w="7560309" h="662940">
                <a:moveTo>
                  <a:pt x="7559992" y="0"/>
                </a:moveTo>
                <a:lnTo>
                  <a:pt x="0" y="0"/>
                </a:lnTo>
                <a:lnTo>
                  <a:pt x="0" y="662431"/>
                </a:lnTo>
                <a:lnTo>
                  <a:pt x="7559992" y="662431"/>
                </a:lnTo>
                <a:lnTo>
                  <a:pt x="7559992" y="0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4B40761-F6C5-4285-87EC-6060BF07C127}"/>
              </a:ext>
            </a:extLst>
          </p:cNvPr>
          <p:cNvSpPr txBox="1"/>
          <p:nvPr/>
        </p:nvSpPr>
        <p:spPr>
          <a:xfrm>
            <a:off x="127209" y="9703106"/>
            <a:ext cx="6720203" cy="190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635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أنك تتعامل مع شركة عالم الفخامة التي وظفت خبراتها اتجاه جمع المعلومة الصحيحة و الخدمة الحقيقة التي لا تجعلك تندم لأختيارك الشركة ، توكل على الله و تواصل معنا الآن</a:t>
            </a:r>
            <a:endParaRPr lang="en-US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4153BE9-3871-44D3-A237-0C61142B6D8D}"/>
              </a:ext>
            </a:extLst>
          </p:cNvPr>
          <p:cNvGrpSpPr/>
          <p:nvPr/>
        </p:nvGrpSpPr>
        <p:grpSpPr>
          <a:xfrm>
            <a:off x="2459051" y="1700368"/>
            <a:ext cx="1936263" cy="2338232"/>
            <a:chOff x="1292300" y="1542111"/>
            <a:chExt cx="2155749" cy="3763815"/>
          </a:xfrm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CC12F910-304F-4F71-8334-AF5291F9A47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D99EEA6-A486-4C7C-A71E-12772DE88E23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B9CD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الثاني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F282E3B3-D1DC-4B30-93F2-280549419A02}"/>
                </a:ext>
              </a:extLst>
            </p:cNvPr>
            <p:cNvSpPr/>
            <p:nvPr/>
          </p:nvSpPr>
          <p:spPr>
            <a:xfrm>
              <a:off x="1561298" y="4916292"/>
              <a:ext cx="1646671" cy="328250"/>
            </a:xfrm>
            <a:prstGeom prst="roundRect">
              <a:avLst>
                <a:gd name="adj" fmla="val 50000"/>
              </a:avLst>
            </a:prstGeom>
            <a:solidFill>
              <a:srgbClr val="B9CD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  <a:endParaRPr lang="en-US" sz="908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0CD852E3-A26B-424F-9DCF-1759586DE411}"/>
              </a:ext>
            </a:extLst>
          </p:cNvPr>
          <p:cNvSpPr/>
          <p:nvPr/>
        </p:nvSpPr>
        <p:spPr>
          <a:xfrm>
            <a:off x="2557600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09" name="PW2">
            <a:extLst>
              <a:ext uri="{FF2B5EF4-FFF2-40B4-BE49-F238E27FC236}">
                <a16:creationId xmlns:a16="http://schemas.microsoft.com/office/drawing/2014/main" id="{790F32C0-AD82-4E88-91E5-3176ED0CB597}"/>
              </a:ext>
            </a:extLst>
          </p:cNvPr>
          <p:cNvSpPr txBox="1"/>
          <p:nvPr/>
        </p:nvSpPr>
        <p:spPr>
          <a:xfrm>
            <a:off x="2474154" y="1957744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{{O2_Price_NV}}</a:t>
            </a:r>
            <a:endParaRPr lang="ar-IQ" sz="635" b="1" dirty="0">
              <a:solidFill>
                <a:srgbClr val="C00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56B2E14-7A87-4C9D-A9A0-F10E7CD6A4F6}"/>
              </a:ext>
            </a:extLst>
          </p:cNvPr>
          <p:cNvSpPr/>
          <p:nvPr/>
        </p:nvSpPr>
        <p:spPr>
          <a:xfrm>
            <a:off x="3502716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1" name="PV2">
            <a:extLst>
              <a:ext uri="{FF2B5EF4-FFF2-40B4-BE49-F238E27FC236}">
                <a16:creationId xmlns:a16="http://schemas.microsoft.com/office/drawing/2014/main" id="{722044A1-28CC-4045-A1E7-A4F77E619482}"/>
              </a:ext>
            </a:extLst>
          </p:cNvPr>
          <p:cNvSpPr txBox="1"/>
          <p:nvPr/>
        </p:nvSpPr>
        <p:spPr>
          <a:xfrm>
            <a:off x="3195987" y="2026199"/>
            <a:ext cx="1354858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latin typeface="Tajawal" panose="00000500000000000000" pitchFamily="2" charset="-78"/>
                <a:cs typeface="Tajawal" panose="00000500000000000000" pitchFamily="2" charset="-78"/>
              </a:rPr>
              <a:t>{{O2_Price_V}}</a:t>
            </a:r>
            <a:endParaRPr lang="en-US" sz="726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68" name="DBL3">
            <a:extLst>
              <a:ext uri="{FF2B5EF4-FFF2-40B4-BE49-F238E27FC236}">
                <a16:creationId xmlns:a16="http://schemas.microsoft.com/office/drawing/2014/main" id="{4A417157-8FC6-4A80-A112-43366EACB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57843"/>
              </p:ext>
            </p:extLst>
          </p:nvPr>
        </p:nvGraphicFramePr>
        <p:xfrm>
          <a:off x="2500527" y="2521164"/>
          <a:ext cx="1808084" cy="11668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110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4338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18593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{#hotels_2}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{#hotels}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15102"/>
                  </a:ext>
                </a:extLst>
              </a:tr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{/hotels_2}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22080"/>
                  </a:ext>
                </a:extLst>
              </a:tr>
            </a:tbl>
          </a:graphicData>
        </a:graphic>
      </p:graphicFrame>
      <p:grpSp>
        <p:nvGrpSpPr>
          <p:cNvPr id="269" name="Group 268">
            <a:extLst>
              <a:ext uri="{FF2B5EF4-FFF2-40B4-BE49-F238E27FC236}">
                <a16:creationId xmlns:a16="http://schemas.microsoft.com/office/drawing/2014/main" id="{627DAF1A-AC30-4261-A1F6-80C00B0B7F5F}"/>
              </a:ext>
            </a:extLst>
          </p:cNvPr>
          <p:cNvGrpSpPr/>
          <p:nvPr/>
        </p:nvGrpSpPr>
        <p:grpSpPr>
          <a:xfrm>
            <a:off x="4637037" y="1657135"/>
            <a:ext cx="1936263" cy="2329114"/>
            <a:chOff x="1292300" y="1542111"/>
            <a:chExt cx="2155749" cy="3763815"/>
          </a:xfrm>
        </p:grpSpPr>
        <p:sp>
          <p:nvSpPr>
            <p:cNvPr id="270" name="Rectangle: Rounded Corners 269">
              <a:extLst>
                <a:ext uri="{FF2B5EF4-FFF2-40B4-BE49-F238E27FC236}">
                  <a16:creationId xmlns:a16="http://schemas.microsoft.com/office/drawing/2014/main" id="{E757E57C-076A-432A-958F-46CCA44242E7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BAE3CD0-ACB5-4A18-BCBA-C04D067C7C6D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C00C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الاول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2" name="Rectangle: Rounded Corners 271">
              <a:extLst>
                <a:ext uri="{FF2B5EF4-FFF2-40B4-BE49-F238E27FC236}">
                  <a16:creationId xmlns:a16="http://schemas.microsoft.com/office/drawing/2014/main" id="{87ADD32F-13FF-480D-9EF2-985C1046D119}"/>
                </a:ext>
              </a:extLst>
            </p:cNvPr>
            <p:cNvSpPr/>
            <p:nvPr/>
          </p:nvSpPr>
          <p:spPr>
            <a:xfrm>
              <a:off x="1580696" y="4911053"/>
              <a:ext cx="1570792" cy="336616"/>
            </a:xfrm>
            <a:prstGeom prst="roundRect">
              <a:avLst>
                <a:gd name="adj" fmla="val 50000"/>
              </a:avLst>
            </a:prstGeom>
            <a:solidFill>
              <a:srgbClr val="CC00C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  <a:endParaRPr lang="en-US" sz="908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6C5AFD1D-4221-441C-882D-F606D0DD2B10}"/>
              </a:ext>
            </a:extLst>
          </p:cNvPr>
          <p:cNvSpPr/>
          <p:nvPr/>
        </p:nvSpPr>
        <p:spPr>
          <a:xfrm>
            <a:off x="4735586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4" name="PW1">
            <a:extLst>
              <a:ext uri="{FF2B5EF4-FFF2-40B4-BE49-F238E27FC236}">
                <a16:creationId xmlns:a16="http://schemas.microsoft.com/office/drawing/2014/main" id="{6F66F1CB-87C7-4EA4-980F-AED31112761B}"/>
              </a:ext>
            </a:extLst>
          </p:cNvPr>
          <p:cNvSpPr txBox="1"/>
          <p:nvPr/>
        </p:nvSpPr>
        <p:spPr>
          <a:xfrm>
            <a:off x="4667359" y="1941775"/>
            <a:ext cx="9444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{{O1_Price_NV}}</a:t>
            </a:r>
            <a:endParaRPr lang="ar-IQ" sz="1300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2B62DDC0-9AEC-48F9-9E5C-C43EAE6438BE}"/>
              </a:ext>
            </a:extLst>
          </p:cNvPr>
          <p:cNvSpPr/>
          <p:nvPr/>
        </p:nvSpPr>
        <p:spPr>
          <a:xfrm>
            <a:off x="5680702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6" name="PV1">
            <a:extLst>
              <a:ext uri="{FF2B5EF4-FFF2-40B4-BE49-F238E27FC236}">
                <a16:creationId xmlns:a16="http://schemas.microsoft.com/office/drawing/2014/main" id="{76AD4A60-FDF9-437B-8370-5E684FE11990}"/>
              </a:ext>
            </a:extLst>
          </p:cNvPr>
          <p:cNvSpPr txBox="1"/>
          <p:nvPr/>
        </p:nvSpPr>
        <p:spPr>
          <a:xfrm>
            <a:off x="5443702" y="1982966"/>
            <a:ext cx="12153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{{O1_Price_V}}</a:t>
            </a:r>
          </a:p>
        </p:txBody>
      </p:sp>
      <p:graphicFrame>
        <p:nvGraphicFramePr>
          <p:cNvPr id="277" name="DBL2">
            <a:extLst>
              <a:ext uri="{FF2B5EF4-FFF2-40B4-BE49-F238E27FC236}">
                <a16:creationId xmlns:a16="http://schemas.microsoft.com/office/drawing/2014/main" id="{7F72B4B2-9FC1-4C82-950F-275E61D49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7518"/>
              </p:ext>
            </p:extLst>
          </p:nvPr>
        </p:nvGraphicFramePr>
        <p:xfrm>
          <a:off x="4720494" y="2532974"/>
          <a:ext cx="1778901" cy="11382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7793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63196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879147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37864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{#hotels_1}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423285"/>
                  </a:ext>
                </a:extLst>
              </a:tr>
              <a:tr h="662525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{#hotels_1}</a:t>
                      </a: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07738"/>
                  </a:ext>
                </a:extLst>
              </a:tr>
              <a:tr h="237864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{/hotels_1}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214417"/>
                  </a:ext>
                </a:extLst>
              </a:tr>
            </a:tbl>
          </a:graphicData>
        </a:graphic>
      </p:graphicFrame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1CF261D-0E86-4F41-8B71-654FDC4FC331}"/>
              </a:ext>
            </a:extLst>
          </p:cNvPr>
          <p:cNvGrpSpPr/>
          <p:nvPr/>
        </p:nvGrpSpPr>
        <p:grpSpPr>
          <a:xfrm>
            <a:off x="1449800" y="4114800"/>
            <a:ext cx="1936263" cy="2433771"/>
            <a:chOff x="1292300" y="1542111"/>
            <a:chExt cx="2155749" cy="3763815"/>
          </a:xfrm>
        </p:grpSpPr>
        <p:sp>
          <p:nvSpPr>
            <p:cNvPr id="288" name="Rectangle: Rounded Corners 287">
              <a:extLst>
                <a:ext uri="{FF2B5EF4-FFF2-40B4-BE49-F238E27FC236}">
                  <a16:creationId xmlns:a16="http://schemas.microsoft.com/office/drawing/2014/main" id="{28303A03-C48D-4938-A829-EE7B43E3124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D9838414-F3C4-4263-AE2A-7CDDE734F6D6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الخامس 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481962AF-0F66-467E-82D2-82BE26273FDE}"/>
                </a:ext>
              </a:extLst>
            </p:cNvPr>
            <p:cNvSpPr/>
            <p:nvPr/>
          </p:nvSpPr>
          <p:spPr>
            <a:xfrm>
              <a:off x="1791499" y="4920654"/>
              <a:ext cx="1154933" cy="333849"/>
            </a:xfrm>
            <a:prstGeom prst="roundRect">
              <a:avLst>
                <a:gd name="adj" fmla="val 50000"/>
              </a:avLst>
            </a:prstGeom>
            <a:solidFill>
              <a:srgbClr val="8064A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</a:p>
          </p:txBody>
        </p:sp>
      </p:grp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89A74834-676E-4833-950D-6060195271FF}"/>
              </a:ext>
            </a:extLst>
          </p:cNvPr>
          <p:cNvSpPr/>
          <p:nvPr/>
        </p:nvSpPr>
        <p:spPr>
          <a:xfrm>
            <a:off x="1548349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2" name="PW5">
            <a:extLst>
              <a:ext uri="{FF2B5EF4-FFF2-40B4-BE49-F238E27FC236}">
                <a16:creationId xmlns:a16="http://schemas.microsoft.com/office/drawing/2014/main" id="{089AA54D-2F53-419F-B8A2-B4E0CD9D336D}"/>
              </a:ext>
            </a:extLst>
          </p:cNvPr>
          <p:cNvSpPr txBox="1"/>
          <p:nvPr/>
        </p:nvSpPr>
        <p:spPr>
          <a:xfrm>
            <a:off x="1479950" y="4434260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{{O5_Price_NV}}</a:t>
            </a:r>
            <a:endParaRPr lang="ar-IQ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1E47787C-DE16-458F-8F12-FA7134E328FA}"/>
              </a:ext>
            </a:extLst>
          </p:cNvPr>
          <p:cNvSpPr/>
          <p:nvPr/>
        </p:nvSpPr>
        <p:spPr>
          <a:xfrm>
            <a:off x="2493465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4" name="PV5">
            <a:extLst>
              <a:ext uri="{FF2B5EF4-FFF2-40B4-BE49-F238E27FC236}">
                <a16:creationId xmlns:a16="http://schemas.microsoft.com/office/drawing/2014/main" id="{F108893F-00F7-40F1-B6F3-51545A168AB7}"/>
              </a:ext>
            </a:extLst>
          </p:cNvPr>
          <p:cNvSpPr txBox="1"/>
          <p:nvPr/>
        </p:nvSpPr>
        <p:spPr>
          <a:xfrm>
            <a:off x="2183532" y="4440631"/>
            <a:ext cx="1361270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{{O5_Price_V}}</a:t>
            </a:r>
            <a:endParaRPr lang="en-US" sz="726" b="1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296" name="DBL6">
            <a:extLst>
              <a:ext uri="{FF2B5EF4-FFF2-40B4-BE49-F238E27FC236}">
                <a16:creationId xmlns:a16="http://schemas.microsoft.com/office/drawing/2014/main" id="{2B12FF0C-3287-40AD-B0AA-817953BD1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918651"/>
              </p:ext>
            </p:extLst>
          </p:nvPr>
        </p:nvGraphicFramePr>
        <p:xfrm>
          <a:off x="1524813" y="4911050"/>
          <a:ext cx="1778901" cy="17447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376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78003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09522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{#hotels_5}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{{nights}}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{{city}}</a:t>
                      </a:r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{{hotel}}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483763"/>
                  </a:ext>
                </a:extLst>
              </a:tr>
              <a:tr h="221300">
                <a:tc gridSpan="3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{/hotels_5}</a:t>
                      </a:r>
                    </a:p>
                  </a:txBody>
                  <a:tcPr marL="82988" marR="82988" marT="41494" marB="41494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383628"/>
                  </a:ext>
                </a:extLst>
              </a:tr>
            </a:tbl>
          </a:graphicData>
        </a:graphic>
      </p:graphicFrame>
      <p:grpSp>
        <p:nvGrpSpPr>
          <p:cNvPr id="297" name="Group 296">
            <a:extLst>
              <a:ext uri="{FF2B5EF4-FFF2-40B4-BE49-F238E27FC236}">
                <a16:creationId xmlns:a16="http://schemas.microsoft.com/office/drawing/2014/main" id="{7C6ADEC2-5865-43C3-B275-97C28E0A12FA}"/>
              </a:ext>
            </a:extLst>
          </p:cNvPr>
          <p:cNvGrpSpPr/>
          <p:nvPr/>
        </p:nvGrpSpPr>
        <p:grpSpPr>
          <a:xfrm>
            <a:off x="3627786" y="4124577"/>
            <a:ext cx="1936263" cy="2427841"/>
            <a:chOff x="1292300" y="1542111"/>
            <a:chExt cx="2155749" cy="3763815"/>
          </a:xfrm>
        </p:grpSpPr>
        <p:sp>
          <p:nvSpPr>
            <p:cNvPr id="298" name="Rectangle: Rounded Corners 297">
              <a:extLst>
                <a:ext uri="{FF2B5EF4-FFF2-40B4-BE49-F238E27FC236}">
                  <a16:creationId xmlns:a16="http://schemas.microsoft.com/office/drawing/2014/main" id="{550D67E4-74B2-40AB-822B-A117A3A1954D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107F72AB-BAEF-484B-B666-D97B81E798B7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FAC09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الرابع 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300" name="Rectangle: Rounded Corners 299">
              <a:extLst>
                <a:ext uri="{FF2B5EF4-FFF2-40B4-BE49-F238E27FC236}">
                  <a16:creationId xmlns:a16="http://schemas.microsoft.com/office/drawing/2014/main" id="{CAC5FAEE-B42C-41C2-8182-58251AF9B8C8}"/>
                </a:ext>
              </a:extLst>
            </p:cNvPr>
            <p:cNvSpPr/>
            <p:nvPr/>
          </p:nvSpPr>
          <p:spPr>
            <a:xfrm>
              <a:off x="1693129" y="4909489"/>
              <a:ext cx="1356156" cy="316728"/>
            </a:xfrm>
            <a:prstGeom prst="roundRect">
              <a:avLst>
                <a:gd name="adj" fmla="val 50000"/>
              </a:avLst>
            </a:prstGeom>
            <a:solidFill>
              <a:srgbClr val="FAC09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</a:p>
          </p:txBody>
        </p:sp>
      </p:grp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84B8A4CA-4B97-4905-86F2-7FFEE12294A7}"/>
              </a:ext>
            </a:extLst>
          </p:cNvPr>
          <p:cNvSpPr/>
          <p:nvPr/>
        </p:nvSpPr>
        <p:spPr>
          <a:xfrm>
            <a:off x="3726335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2" name="PW4">
            <a:extLst>
              <a:ext uri="{FF2B5EF4-FFF2-40B4-BE49-F238E27FC236}">
                <a16:creationId xmlns:a16="http://schemas.microsoft.com/office/drawing/2014/main" id="{A2C207A6-E970-47D0-AD67-9C981DDAAAB7}"/>
              </a:ext>
            </a:extLst>
          </p:cNvPr>
          <p:cNvSpPr txBox="1"/>
          <p:nvPr/>
        </p:nvSpPr>
        <p:spPr>
          <a:xfrm>
            <a:off x="3662440" y="4381961"/>
            <a:ext cx="944445" cy="539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2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{{O4_Price_NV}}</a:t>
            </a:r>
            <a:endParaRPr lang="ar-IQ" sz="635" b="1" dirty="0">
              <a:solidFill>
                <a:srgbClr val="0070C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E18264C4-407C-4EB5-948A-9489BED78CA7}"/>
              </a:ext>
            </a:extLst>
          </p:cNvPr>
          <p:cNvSpPr/>
          <p:nvPr/>
        </p:nvSpPr>
        <p:spPr>
          <a:xfrm>
            <a:off x="4671452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4" name="PV4">
            <a:extLst>
              <a:ext uri="{FF2B5EF4-FFF2-40B4-BE49-F238E27FC236}">
                <a16:creationId xmlns:a16="http://schemas.microsoft.com/office/drawing/2014/main" id="{DCC3E7AE-7C6C-4551-9D25-991395A6DC53}"/>
              </a:ext>
            </a:extLst>
          </p:cNvPr>
          <p:cNvSpPr txBox="1"/>
          <p:nvPr/>
        </p:nvSpPr>
        <p:spPr>
          <a:xfrm>
            <a:off x="4355905" y="4450408"/>
            <a:ext cx="1372492" cy="315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52" b="1" dirty="0">
                <a:latin typeface="Tajawal" panose="00000500000000000000" pitchFamily="2" charset="-78"/>
                <a:cs typeface="Tajawal" panose="00000500000000000000" pitchFamily="2" charset="-78"/>
              </a:rPr>
              <a:t>{{O4_Price_V}}</a:t>
            </a:r>
            <a:endParaRPr lang="en-US" sz="726" b="1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aphicFrame>
        <p:nvGraphicFramePr>
          <p:cNvPr id="305" name="DBL5">
            <a:extLst>
              <a:ext uri="{FF2B5EF4-FFF2-40B4-BE49-F238E27FC236}">
                <a16:creationId xmlns:a16="http://schemas.microsoft.com/office/drawing/2014/main" id="{289412DC-3C96-43E7-9AE7-A3F403266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813325"/>
              </p:ext>
            </p:extLst>
          </p:nvPr>
        </p:nvGraphicFramePr>
        <p:xfrm>
          <a:off x="3734119" y="4896507"/>
          <a:ext cx="1778901" cy="15923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1593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977708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3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{#hotels_4}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{{hotel}}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65218"/>
                  </a:ext>
                </a:extLst>
              </a:tr>
              <a:tr h="221300">
                <a:tc gridSpan="3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{/hotels_4}</a:t>
                      </a:r>
                    </a:p>
                  </a:txBody>
                  <a:tcPr marL="82988" marR="82988" marT="41494" marB="4149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693868"/>
                  </a:ext>
                </a:extLst>
              </a:tr>
            </a:tbl>
          </a:graphicData>
        </a:graphic>
      </p:graphicFrame>
      <p:pic>
        <p:nvPicPr>
          <p:cNvPr id="357" name="Graphic 356">
            <a:extLst>
              <a:ext uri="{FF2B5EF4-FFF2-40B4-BE49-F238E27FC236}">
                <a16:creationId xmlns:a16="http://schemas.microsoft.com/office/drawing/2014/main" id="{B5B4F419-25D0-419B-83CE-0CDDB0751AC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2227" b="21214"/>
          <a:stretch/>
        </p:blipFill>
        <p:spPr>
          <a:xfrm flipH="1">
            <a:off x="1619451" y="7507341"/>
            <a:ext cx="5059895" cy="13692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591421-B0AF-4736-B151-EBA4FB670AC5}"/>
              </a:ext>
            </a:extLst>
          </p:cNvPr>
          <p:cNvSpPr txBox="1"/>
          <p:nvPr/>
        </p:nvSpPr>
        <p:spPr>
          <a:xfrm>
            <a:off x="1641596" y="7677304"/>
            <a:ext cx="4890678" cy="123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الفنادق لدينا ارخص من مواقع الحجوزات ! والدفع بعد الوصول الى جورجيا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نختار لأقامتك افضل الخيارات لذلك توجد أسعار اقل بخدمة او بجودة اقل ! فعالم الفخامة تحب ان يكون عمليها مرتاح  في الرحلة 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البرنامج 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قابل للتغير </a:t>
            </a: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مثلما تريد الرحلة رحلتك و نحن ننفذ .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الدفع كاش بعملة الدولار الأمريكي واذا كان بالبطاقة البنكية يضاف </a:t>
            </a:r>
            <a:r>
              <a:rPr lang="en-US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5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% عمولة . </a:t>
            </a:r>
          </a:p>
          <a:p>
            <a:endParaRPr lang="en-US" sz="635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760AE6EB-BAA4-43AA-B47D-D210101006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-13048"/>
            <a:ext cx="2133172" cy="726611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05A879C2-7195-4C3A-91E0-DD2FC256687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2227" b="21214"/>
          <a:stretch/>
        </p:blipFill>
        <p:spPr>
          <a:xfrm flipH="1">
            <a:off x="71645" y="7676039"/>
            <a:ext cx="1594972" cy="120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E7B46-1DCD-483C-842B-3D829556D431}"/>
              </a:ext>
            </a:extLst>
          </p:cNvPr>
          <p:cNvSpPr txBox="1"/>
          <p:nvPr/>
        </p:nvSpPr>
        <p:spPr>
          <a:xfrm>
            <a:off x="171251" y="7728970"/>
            <a:ext cx="1594972" cy="28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IQ" sz="1271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للتأكيد فقط ارسل</a:t>
            </a:r>
            <a:endParaRPr lang="en-US" sz="1271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54A4CEB-8520-4E7E-96EC-B0FE09F677EA}"/>
              </a:ext>
            </a:extLst>
          </p:cNvPr>
          <p:cNvSpPr txBox="1"/>
          <p:nvPr/>
        </p:nvSpPr>
        <p:spPr>
          <a:xfrm>
            <a:off x="116933" y="7983329"/>
            <a:ext cx="143167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جوازات السفر لأصدار الحجوزات و تأمين السفر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57D29BE-C551-42FB-A13B-66417464D98E}"/>
              </a:ext>
            </a:extLst>
          </p:cNvPr>
          <p:cNvSpPr txBox="1"/>
          <p:nvPr/>
        </p:nvSpPr>
        <p:spPr>
          <a:xfrm>
            <a:off x="164629" y="8359277"/>
            <a:ext cx="139921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وتذاكر السفر موضح بها الوصول و المغادرة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F91C7-D04D-4A0E-9BA5-586B5120AADD}"/>
              </a:ext>
            </a:extLst>
          </p:cNvPr>
          <p:cNvSpPr/>
          <p:nvPr/>
        </p:nvSpPr>
        <p:spPr>
          <a:xfrm>
            <a:off x="4196971" y="7432896"/>
            <a:ext cx="2460009" cy="363106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</a:bodyPr>
          <a:lstStyle/>
          <a:p>
            <a:pPr algn="ctr"/>
            <a:r>
              <a:rPr lang="ar-IQ" sz="1815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ملاحظات مهمة</a:t>
            </a:r>
            <a:endParaRPr lang="en-US" sz="1815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4A06A20-835B-43FA-8ABB-0EC349261668}"/>
              </a:ext>
            </a:extLst>
          </p:cNvPr>
          <p:cNvSpPr txBox="1"/>
          <p:nvPr/>
        </p:nvSpPr>
        <p:spPr>
          <a:xfrm>
            <a:off x="72119" y="8914627"/>
            <a:ext cx="6669368" cy="76277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 rtl="1"/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أننا نعتز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بهويتنا الأسلامية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ولا نتخلى عن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مبادئنا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 منعنا هذه الامور التي يتم طلبها من (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قلة من الاشخاص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) و لانها تنافى تعاليم ديننا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الاسلامى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واخلاق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المسلمين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فأنها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منعت منعاً باتاً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ولمن يطلب هذه الامور تعتبر الرحلة ملغية: 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البغاء و المراقص وما شابهها و المشروبات الكحولية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اذ كان طلبك يشابه المحرم فلا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تُتَمِمَ الحجز معنا فالعوائل أولى بخدماتنا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.. واذا ثبت هذه الأمور اثناء الرحلة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سيتم الغاء الحجوزات و المبلغ غير مسترجع كلياً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F00D1-CF20-493C-BBB4-7CF1C86A5135}"/>
              </a:ext>
            </a:extLst>
          </p:cNvPr>
          <p:cNvSpPr txBox="1"/>
          <p:nvPr/>
        </p:nvSpPr>
        <p:spPr>
          <a:xfrm>
            <a:off x="3450950" y="226120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91142D0-2D0D-4864-93AB-05FCEBFF4947}"/>
              </a:ext>
            </a:extLst>
          </p:cNvPr>
          <p:cNvSpPr txBox="1"/>
          <p:nvPr/>
        </p:nvSpPr>
        <p:spPr>
          <a:xfrm>
            <a:off x="2635236" y="218082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52E94FB-293D-4A66-B700-7450660C71B2}"/>
              </a:ext>
            </a:extLst>
          </p:cNvPr>
          <p:cNvSpPr txBox="1"/>
          <p:nvPr/>
        </p:nvSpPr>
        <p:spPr>
          <a:xfrm>
            <a:off x="5668764" y="2234400"/>
            <a:ext cx="8787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BD599F9-8294-4737-9BD5-54DDA080FA7D}"/>
              </a:ext>
            </a:extLst>
          </p:cNvPr>
          <p:cNvSpPr txBox="1"/>
          <p:nvPr/>
        </p:nvSpPr>
        <p:spPr>
          <a:xfrm>
            <a:off x="4817217" y="213795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46864D8-64DE-4D1F-96B1-0162E7AB22DD}"/>
              </a:ext>
            </a:extLst>
          </p:cNvPr>
          <p:cNvSpPr txBox="1"/>
          <p:nvPr/>
        </p:nvSpPr>
        <p:spPr>
          <a:xfrm>
            <a:off x="1297114" y="227479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4CEA6ED-85F6-40B4-9FC1-499CECF8DAB4}"/>
              </a:ext>
            </a:extLst>
          </p:cNvPr>
          <p:cNvSpPr txBox="1"/>
          <p:nvPr/>
        </p:nvSpPr>
        <p:spPr>
          <a:xfrm>
            <a:off x="454835" y="216797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EB6709E-4C0C-4445-ADB5-16CB3C6D29B9}"/>
              </a:ext>
            </a:extLst>
          </p:cNvPr>
          <p:cNvSpPr txBox="1"/>
          <p:nvPr/>
        </p:nvSpPr>
        <p:spPr>
          <a:xfrm>
            <a:off x="2448101" y="4649278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F212D34-0559-44D1-AFA4-DD6405A0C54E}"/>
              </a:ext>
            </a:extLst>
          </p:cNvPr>
          <p:cNvSpPr txBox="1"/>
          <p:nvPr/>
        </p:nvSpPr>
        <p:spPr>
          <a:xfrm>
            <a:off x="1629808" y="460830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82A652C-C407-49A7-AB74-8039286D0015}"/>
              </a:ext>
            </a:extLst>
          </p:cNvPr>
          <p:cNvSpPr txBox="1"/>
          <p:nvPr/>
        </p:nvSpPr>
        <p:spPr>
          <a:xfrm>
            <a:off x="4665915" y="4675485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C0DCC16-1971-412A-99B4-6C22C7FFEB67}"/>
              </a:ext>
            </a:extLst>
          </p:cNvPr>
          <p:cNvSpPr txBox="1"/>
          <p:nvPr/>
        </p:nvSpPr>
        <p:spPr>
          <a:xfrm>
            <a:off x="3822852" y="4584829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rgbClr val="0070C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C6B5F73-7C72-4FB0-97C5-DAD379AA79E1}"/>
              </a:ext>
            </a:extLst>
          </p:cNvPr>
          <p:cNvSpPr txBox="1"/>
          <p:nvPr/>
        </p:nvSpPr>
        <p:spPr>
          <a:xfrm>
            <a:off x="2833889" y="7074661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إفطار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يومياً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15BD077-A67D-41C1-9D38-49978DEF426C}"/>
              </a:ext>
            </a:extLst>
          </p:cNvPr>
          <p:cNvSpPr txBox="1"/>
          <p:nvPr/>
        </p:nvSpPr>
        <p:spPr>
          <a:xfrm>
            <a:off x="2390425" y="7080768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تأمين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سفر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8F0B00F-5185-4EB8-9340-4270F64019D3}"/>
              </a:ext>
            </a:extLst>
          </p:cNvPr>
          <p:cNvSpPr txBox="1"/>
          <p:nvPr/>
        </p:nvSpPr>
        <p:spPr>
          <a:xfrm>
            <a:off x="1846792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استقبال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وتوديع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3578F53-2109-419E-94B9-852EB1C82BFA}"/>
              </a:ext>
            </a:extLst>
          </p:cNvPr>
          <p:cNvSpPr txBox="1"/>
          <p:nvPr/>
        </p:nvSpPr>
        <p:spPr>
          <a:xfrm>
            <a:off x="1371657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سيارة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خاصة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62832A5-86EA-4473-AC9D-F0A204E4F8B1}"/>
              </a:ext>
            </a:extLst>
          </p:cNvPr>
          <p:cNvSpPr txBox="1"/>
          <p:nvPr/>
        </p:nvSpPr>
        <p:spPr>
          <a:xfrm>
            <a:off x="914959" y="7074449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إقامة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فندقية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391930-A973-4A7B-A5AA-CBD752835242}"/>
              </a:ext>
            </a:extLst>
          </p:cNvPr>
          <p:cNvSpPr txBox="1"/>
          <p:nvPr/>
        </p:nvSpPr>
        <p:spPr>
          <a:xfrm>
            <a:off x="394677" y="7074449"/>
            <a:ext cx="69122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التنقلات بين المدن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53616A8-75D4-4B53-957D-1EE00F1DAFEB}"/>
              </a:ext>
            </a:extLst>
          </p:cNvPr>
          <p:cNvSpPr/>
          <p:nvPr/>
        </p:nvSpPr>
        <p:spPr>
          <a:xfrm>
            <a:off x="3836802" y="6619913"/>
            <a:ext cx="2899898" cy="822462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ar-IQ" sz="2400" b="1" dirty="0">
                <a:ln/>
                <a:solidFill>
                  <a:schemeClr val="accent4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تشمل العروض على الخدمات التالية : </a:t>
            </a:r>
            <a:endParaRPr lang="en-US" sz="2400" b="1" dirty="0">
              <a:ln/>
              <a:solidFill>
                <a:schemeClr val="accent4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5" name="Flowchart: Alternate Process 124">
            <a:extLst>
              <a:ext uri="{FF2B5EF4-FFF2-40B4-BE49-F238E27FC236}">
                <a16:creationId xmlns:a16="http://schemas.microsoft.com/office/drawing/2014/main" id="{ED1B4910-8D44-4879-A8C2-7191080A848F}"/>
              </a:ext>
            </a:extLst>
          </p:cNvPr>
          <p:cNvSpPr/>
          <p:nvPr/>
        </p:nvSpPr>
        <p:spPr>
          <a:xfrm>
            <a:off x="5502197" y="1967313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B1C50D91-4EC5-42BE-95FB-E0BD5F317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548" y="2011365"/>
            <a:ext cx="162887" cy="16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E9E27599-BBE8-4D3E-A867-0179CB71A85B}"/>
              </a:ext>
            </a:extLst>
          </p:cNvPr>
          <p:cNvSpPr txBox="1"/>
          <p:nvPr/>
        </p:nvSpPr>
        <p:spPr>
          <a:xfrm>
            <a:off x="5448916" y="2141793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2" name="Flowchart: Alternate Process 141">
            <a:extLst>
              <a:ext uri="{FF2B5EF4-FFF2-40B4-BE49-F238E27FC236}">
                <a16:creationId xmlns:a16="http://schemas.microsoft.com/office/drawing/2014/main" id="{804F3CEA-B5C5-4FC1-9E0C-01803447D4B4}"/>
              </a:ext>
            </a:extLst>
          </p:cNvPr>
          <p:cNvSpPr/>
          <p:nvPr/>
        </p:nvSpPr>
        <p:spPr>
          <a:xfrm>
            <a:off x="3309031" y="2014522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8D26A7C8-098C-47AF-B89F-5EA22167E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529" y="2070741"/>
            <a:ext cx="149444" cy="14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35DF188C-09E9-42C1-98A6-71E57C337661}"/>
              </a:ext>
            </a:extLst>
          </p:cNvPr>
          <p:cNvSpPr txBox="1"/>
          <p:nvPr/>
        </p:nvSpPr>
        <p:spPr>
          <a:xfrm>
            <a:off x="3251025" y="2192292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6" name="Flowchart: Alternate Process 145">
            <a:extLst>
              <a:ext uri="{FF2B5EF4-FFF2-40B4-BE49-F238E27FC236}">
                <a16:creationId xmlns:a16="http://schemas.microsoft.com/office/drawing/2014/main" id="{6473312C-22FB-425F-AA0A-A3015A48A1EC}"/>
              </a:ext>
            </a:extLst>
          </p:cNvPr>
          <p:cNvSpPr/>
          <p:nvPr/>
        </p:nvSpPr>
        <p:spPr>
          <a:xfrm>
            <a:off x="1127220" y="2002218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7895FB19-5456-478E-84B7-8E68C052F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97" y="2063489"/>
            <a:ext cx="150981" cy="15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C134F595-2969-4541-A7C0-DC41353BB3E0}"/>
              </a:ext>
            </a:extLst>
          </p:cNvPr>
          <p:cNvSpPr txBox="1"/>
          <p:nvPr/>
        </p:nvSpPr>
        <p:spPr>
          <a:xfrm>
            <a:off x="1065255" y="2175074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6" name="Flowchart: Alternate Process 155">
            <a:extLst>
              <a:ext uri="{FF2B5EF4-FFF2-40B4-BE49-F238E27FC236}">
                <a16:creationId xmlns:a16="http://schemas.microsoft.com/office/drawing/2014/main" id="{3806AB53-5A89-4EF4-8052-E6633F30CBFC}"/>
              </a:ext>
            </a:extLst>
          </p:cNvPr>
          <p:cNvSpPr/>
          <p:nvPr/>
        </p:nvSpPr>
        <p:spPr>
          <a:xfrm>
            <a:off x="4507206" y="4431819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7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CB5D455A-689A-43BE-8132-03D19C12A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130" y="4499951"/>
            <a:ext cx="149007" cy="14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84492812-9357-430C-845C-C820FB2767F1}"/>
              </a:ext>
            </a:extLst>
          </p:cNvPr>
          <p:cNvSpPr txBox="1"/>
          <p:nvPr/>
        </p:nvSpPr>
        <p:spPr>
          <a:xfrm>
            <a:off x="4452359" y="4630917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9" name="Flowchart: Alternate Process 158">
            <a:extLst>
              <a:ext uri="{FF2B5EF4-FFF2-40B4-BE49-F238E27FC236}">
                <a16:creationId xmlns:a16="http://schemas.microsoft.com/office/drawing/2014/main" id="{3542B49F-BFA4-4E7D-9DD3-0867AED0BA7E}"/>
              </a:ext>
            </a:extLst>
          </p:cNvPr>
          <p:cNvSpPr/>
          <p:nvPr/>
        </p:nvSpPr>
        <p:spPr>
          <a:xfrm>
            <a:off x="2306681" y="4424714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0A26B011-BD33-4BAA-82E3-9FB1EDE58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526" y="4478004"/>
            <a:ext cx="158432" cy="15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1BE632C5-498A-41FB-81BA-71F371CFC415}"/>
              </a:ext>
            </a:extLst>
          </p:cNvPr>
          <p:cNvSpPr txBox="1"/>
          <p:nvPr/>
        </p:nvSpPr>
        <p:spPr>
          <a:xfrm>
            <a:off x="2248472" y="4612031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130E96F-9B0D-7F7A-78C6-71BF0CCF5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014113"/>
              </p:ext>
            </p:extLst>
          </p:nvPr>
        </p:nvGraphicFramePr>
        <p:xfrm>
          <a:off x="2385280" y="-53056"/>
          <a:ext cx="44692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320">
                  <a:extLst>
                    <a:ext uri="{9D8B030D-6E8A-4147-A177-3AD203B41FA5}">
                      <a16:colId xmlns:a16="http://schemas.microsoft.com/office/drawing/2014/main" val="2234261198"/>
                    </a:ext>
                  </a:extLst>
                </a:gridCol>
                <a:gridCol w="819438">
                  <a:extLst>
                    <a:ext uri="{9D8B030D-6E8A-4147-A177-3AD203B41FA5}">
                      <a16:colId xmlns:a16="http://schemas.microsoft.com/office/drawing/2014/main" val="295581609"/>
                    </a:ext>
                  </a:extLst>
                </a:gridCol>
                <a:gridCol w="509097">
                  <a:extLst>
                    <a:ext uri="{9D8B030D-6E8A-4147-A177-3AD203B41FA5}">
                      <a16:colId xmlns:a16="http://schemas.microsoft.com/office/drawing/2014/main" val="2651898369"/>
                    </a:ext>
                  </a:extLst>
                </a:gridCol>
                <a:gridCol w="728865">
                  <a:extLst>
                    <a:ext uri="{9D8B030D-6E8A-4147-A177-3AD203B41FA5}">
                      <a16:colId xmlns:a16="http://schemas.microsoft.com/office/drawing/2014/main" val="1777549104"/>
                    </a:ext>
                  </a:extLst>
                </a:gridCol>
                <a:gridCol w="758542">
                  <a:extLst>
                    <a:ext uri="{9D8B030D-6E8A-4147-A177-3AD203B41FA5}">
                      <a16:colId xmlns:a16="http://schemas.microsoft.com/office/drawing/2014/main" val="428754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</a:t>
                      </a:r>
                      <a:r>
                        <a:rPr lang="en-US" sz="900" b="1" dirty="0" err="1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Rooms_Count</a:t>
                      </a: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}}</a:t>
                      </a: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عدد الغرف 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أيام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{{Days}}</a:t>
                      </a: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عـــدد الأيام: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7853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</a:t>
                      </a:r>
                      <a:r>
                        <a:rPr lang="en-US" sz="900" b="1" dirty="0" err="1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Room_Types</a:t>
                      </a: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}}</a:t>
                      </a: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نوع الغرف 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ليالي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عدد الليالي: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20534"/>
                  </a:ext>
                </a:extLst>
              </a:tr>
            </a:tbl>
          </a:graphicData>
        </a:graphic>
      </p:graphicFrame>
      <p:graphicFrame>
        <p:nvGraphicFramePr>
          <p:cNvPr id="12" name="DBL3">
            <a:extLst>
              <a:ext uri="{FF2B5EF4-FFF2-40B4-BE49-F238E27FC236}">
                <a16:creationId xmlns:a16="http://schemas.microsoft.com/office/drawing/2014/main" id="{A3739875-01B1-13AF-9D46-44B70E8D8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788944"/>
              </p:ext>
            </p:extLst>
          </p:nvPr>
        </p:nvGraphicFramePr>
        <p:xfrm>
          <a:off x="350744" y="2536070"/>
          <a:ext cx="1808084" cy="11668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110">
                  <a:extLst>
                    <a:ext uri="{9D8B030D-6E8A-4147-A177-3AD203B41FA5}">
                      <a16:colId xmlns:a16="http://schemas.microsoft.com/office/drawing/2014/main" val="4267363588"/>
                    </a:ext>
                  </a:extLst>
                </a:gridCol>
                <a:gridCol w="543381">
                  <a:extLst>
                    <a:ext uri="{9D8B030D-6E8A-4147-A177-3AD203B41FA5}">
                      <a16:colId xmlns:a16="http://schemas.microsoft.com/office/drawing/2014/main" val="1236181799"/>
                    </a:ext>
                  </a:extLst>
                </a:gridCol>
                <a:gridCol w="1018593">
                  <a:extLst>
                    <a:ext uri="{9D8B030D-6E8A-4147-A177-3AD203B41FA5}">
                      <a16:colId xmlns:a16="http://schemas.microsoft.com/office/drawing/2014/main" val="208932020"/>
                    </a:ext>
                  </a:extLst>
                </a:gridCol>
              </a:tblGrid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{#hotels_3}</a:t>
                      </a:r>
                    </a:p>
                  </a:txBody>
                  <a:tcPr marL="82988" marR="82988" marT="41494" marB="4149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89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{{nights}}</a:t>
                      </a:r>
                    </a:p>
                  </a:txBody>
                  <a:tcPr marL="82988" marR="82988" marT="41494" marB="4149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{{city}}</a:t>
                      </a:r>
                    </a:p>
                  </a:txBody>
                  <a:tcPr marL="82988" marR="82988" marT="41494" marB="41494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{#hotels}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415102"/>
                  </a:ext>
                </a:extLst>
              </a:tr>
              <a:tr h="2218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{/hotels_3}</a:t>
                      </a:r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82988" marR="82988" marT="41494" marB="4149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b="1" dirty="0">
                        <a:solidFill>
                          <a:schemeClr val="tx1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22080"/>
                  </a:ext>
                </a:extLst>
              </a:tr>
            </a:tbl>
          </a:graphicData>
        </a:graphic>
      </p:graphicFrame>
      <p:graphicFrame>
        <p:nvGraphicFramePr>
          <p:cNvPr id="32" name="Table 3">
            <a:extLst>
              <a:ext uri="{FF2B5EF4-FFF2-40B4-BE49-F238E27FC236}">
                <a16:creationId xmlns:a16="http://schemas.microsoft.com/office/drawing/2014/main" id="{646228C5-7F50-1CF5-16BF-F84F29022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770124"/>
              </p:ext>
            </p:extLst>
          </p:nvPr>
        </p:nvGraphicFramePr>
        <p:xfrm>
          <a:off x="157566" y="825065"/>
          <a:ext cx="629229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2789">
                  <a:extLst>
                    <a:ext uri="{9D8B030D-6E8A-4147-A177-3AD203B41FA5}">
                      <a16:colId xmlns:a16="http://schemas.microsoft.com/office/drawing/2014/main" val="4765774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888058353"/>
                    </a:ext>
                  </a:extLst>
                </a:gridCol>
                <a:gridCol w="748906">
                  <a:extLst>
                    <a:ext uri="{9D8B030D-6E8A-4147-A177-3AD203B41FA5}">
                      <a16:colId xmlns:a16="http://schemas.microsoft.com/office/drawing/2014/main" val="14506204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مسار رحلتك </a:t>
                      </a:r>
                      <a:endParaRPr lang="en-US" sz="8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مطارت الوصول والمغادرة</a:t>
                      </a:r>
                      <a:endParaRPr lang="en-US" sz="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48011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rtl="1"/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</a:t>
                      </a:r>
                      <a:r>
                        <a:rPr lang="en-US" sz="800" b="1" dirty="0" err="1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arv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}}</a:t>
                      </a:r>
                      <a:endParaRPr lang="ar-IQ" sz="800" b="1" dirty="0">
                        <a:solidFill>
                          <a:srgbClr val="00206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700" b="1" dirty="0"/>
                        <a:t>مطار الوصل </a:t>
                      </a:r>
                      <a:endParaRPr lang="en-US" sz="7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12738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{{</a:t>
                      </a:r>
                      <a:r>
                        <a:rPr lang="en-US" sz="800" b="1" dirty="0" err="1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dbar</a:t>
                      </a:r>
                      <a:r>
                        <a:rPr lang="en-US" sz="800" b="1" dirty="0">
                          <a:solidFill>
                            <a:srgbClr val="00206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}}</a:t>
                      </a:r>
                      <a:endParaRPr lang="ar-IQ" sz="800" b="1" dirty="0">
                        <a:solidFill>
                          <a:srgbClr val="00206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700" b="1" dirty="0"/>
                        <a:t>مطار المغادرة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30739366"/>
                  </a:ext>
                </a:extLst>
              </a:tr>
            </a:tbl>
          </a:graphicData>
        </a:graphic>
      </p:graphicFrame>
      <p:pic>
        <p:nvPicPr>
          <p:cNvPr id="33" name="Picture 32">
            <a:extLst>
              <a:ext uri="{FF2B5EF4-FFF2-40B4-BE49-F238E27FC236}">
                <a16:creationId xmlns:a16="http://schemas.microsoft.com/office/drawing/2014/main" id="{BC1C66EA-11CA-69F7-BF16-0239A7FA2D6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45612" y="970610"/>
            <a:ext cx="451099" cy="451099"/>
          </a:xfrm>
          <a:prstGeom prst="rect">
            <a:avLst/>
          </a:prstGeom>
        </p:spPr>
      </p:pic>
      <p:sp>
        <p:nvSpPr>
          <p:cNvPr id="34" name="N2">
            <a:extLst>
              <a:ext uri="{FF2B5EF4-FFF2-40B4-BE49-F238E27FC236}">
                <a16:creationId xmlns:a16="http://schemas.microsoft.com/office/drawing/2014/main" id="{FF61E9DF-9209-CCCF-C63A-ED5AA0A77028}"/>
              </a:ext>
            </a:extLst>
          </p:cNvPr>
          <p:cNvSpPr txBox="1"/>
          <p:nvPr/>
        </p:nvSpPr>
        <p:spPr>
          <a:xfrm>
            <a:off x="900355" y="1158173"/>
            <a:ext cx="3744986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089" b="1" dirty="0">
                <a:solidFill>
                  <a:srgbClr val="00206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{{Route}}</a:t>
            </a:r>
            <a:endParaRPr lang="ar-IQ" sz="1089" b="1" dirty="0">
              <a:solidFill>
                <a:srgbClr val="00206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36577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B4851ED-B795-4134-83AE-1FFBA5315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5400000">
            <a:off x="-1425198" y="1525728"/>
            <a:ext cx="9704937" cy="685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Graphic 197">
            <a:extLst>
              <a:ext uri="{FF2B5EF4-FFF2-40B4-BE49-F238E27FC236}">
                <a16:creationId xmlns:a16="http://schemas.microsoft.com/office/drawing/2014/main" id="{89533E1A-0AC4-4A89-9FA7-7DC8360AB2E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227" b="21214"/>
          <a:stretch/>
        </p:blipFill>
        <p:spPr>
          <a:xfrm flipH="1">
            <a:off x="152400" y="6579180"/>
            <a:ext cx="3741572" cy="9399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894C86D-4F2A-4FC3-B728-C7837E9F3D80}"/>
              </a:ext>
            </a:extLst>
          </p:cNvPr>
          <p:cNvSpPr txBox="1"/>
          <p:nvPr/>
        </p:nvSpPr>
        <p:spPr>
          <a:xfrm>
            <a:off x="3277353" y="7069929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خطوط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اتصال 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FEE145-9EC8-48E7-826F-EC91021D9578}"/>
              </a:ext>
            </a:extLst>
          </p:cNvPr>
          <p:cNvGrpSpPr/>
          <p:nvPr/>
        </p:nvGrpSpPr>
        <p:grpSpPr>
          <a:xfrm>
            <a:off x="346199" y="6400800"/>
            <a:ext cx="3623973" cy="784975"/>
            <a:chOff x="3099515" y="8387552"/>
            <a:chExt cx="2014059" cy="4429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6522E01-03E9-4492-A2F8-2C95AE89DC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24" t="77064" r="54639" b="9480"/>
            <a:stretch/>
          </p:blipFill>
          <p:spPr>
            <a:xfrm>
              <a:off x="3099515" y="8387552"/>
              <a:ext cx="1219201" cy="44294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19F208-D1DB-40ED-8EED-1A0639225D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97" t="66155" r="62625" b="21246"/>
            <a:stretch/>
          </p:blipFill>
          <p:spPr>
            <a:xfrm>
              <a:off x="4199173" y="8401640"/>
              <a:ext cx="914401" cy="414765"/>
            </a:xfrm>
            <a:prstGeom prst="rect">
              <a:avLst/>
            </a:prstGeom>
          </p:spPr>
        </p:pic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9FE290B-4BF5-43CE-93F7-D687B3D46D0A}"/>
              </a:ext>
            </a:extLst>
          </p:cNvPr>
          <p:cNvGrpSpPr/>
          <p:nvPr/>
        </p:nvGrpSpPr>
        <p:grpSpPr>
          <a:xfrm>
            <a:off x="280190" y="1700249"/>
            <a:ext cx="1936263" cy="2321671"/>
            <a:chOff x="1292300" y="1542111"/>
            <a:chExt cx="2155749" cy="3763815"/>
          </a:xfrm>
        </p:grpSpPr>
        <p:sp>
          <p:nvSpPr>
            <p:cNvPr id="213" name="Rectangle: Rounded Corners 212">
              <a:extLst>
                <a:ext uri="{FF2B5EF4-FFF2-40B4-BE49-F238E27FC236}">
                  <a16:creationId xmlns:a16="http://schemas.microsoft.com/office/drawing/2014/main" id="{25F78863-3C27-4AD2-8C4B-9A7623681FA9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0DFA797-4688-4ED0-B8B4-9A7F3BAC69FC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الثالث</a:t>
              </a:r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15" name="Rectangle: Rounded Corners 214">
              <a:extLst>
                <a:ext uri="{FF2B5EF4-FFF2-40B4-BE49-F238E27FC236}">
                  <a16:creationId xmlns:a16="http://schemas.microsoft.com/office/drawing/2014/main" id="{446CABE4-84AC-41CA-9CF2-A642D956E166}"/>
                </a:ext>
              </a:extLst>
            </p:cNvPr>
            <p:cNvSpPr/>
            <p:nvPr/>
          </p:nvSpPr>
          <p:spPr>
            <a:xfrm>
              <a:off x="1650287" y="4913925"/>
              <a:ext cx="1360046" cy="328040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latin typeface="Tajawal" panose="00000500000000000000" pitchFamily="2" charset="-78"/>
                  <a:cs typeface="Tajawal" panose="00000500000000000000" pitchFamily="2" charset="-78"/>
                </a:rPr>
                <a:t>خمس نجوم</a:t>
              </a:r>
              <a:endParaRPr lang="en-US" sz="908" b="1" dirty="0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FDD19029-3264-4275-B29E-97E428BB8C2F}"/>
              </a:ext>
            </a:extLst>
          </p:cNvPr>
          <p:cNvSpPr/>
          <p:nvPr/>
        </p:nvSpPr>
        <p:spPr>
          <a:xfrm>
            <a:off x="378739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22" name="Rectangle: Rounded Corners 221">
            <a:extLst>
              <a:ext uri="{FF2B5EF4-FFF2-40B4-BE49-F238E27FC236}">
                <a16:creationId xmlns:a16="http://schemas.microsoft.com/office/drawing/2014/main" id="{7948E3DB-98D5-4AD2-9CE8-37028205400F}"/>
              </a:ext>
            </a:extLst>
          </p:cNvPr>
          <p:cNvSpPr/>
          <p:nvPr/>
        </p:nvSpPr>
        <p:spPr>
          <a:xfrm>
            <a:off x="1323855" y="1977515"/>
            <a:ext cx="796921" cy="489412"/>
          </a:xfrm>
          <a:prstGeom prst="roundRect">
            <a:avLst/>
          </a:prstGeom>
          <a:solidFill>
            <a:srgbClr val="C0000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48" name="object 6">
            <a:extLst>
              <a:ext uri="{FF2B5EF4-FFF2-40B4-BE49-F238E27FC236}">
                <a16:creationId xmlns:a16="http://schemas.microsoft.com/office/drawing/2014/main" id="{595348B5-EDBD-4062-8134-74A9D785D347}"/>
              </a:ext>
            </a:extLst>
          </p:cNvPr>
          <p:cNvSpPr/>
          <p:nvPr/>
        </p:nvSpPr>
        <p:spPr>
          <a:xfrm>
            <a:off x="-1" y="0"/>
            <a:ext cx="6861457" cy="719965"/>
          </a:xfrm>
          <a:custGeom>
            <a:avLst/>
            <a:gdLst/>
            <a:ahLst/>
            <a:cxnLst/>
            <a:rect l="l" t="t" r="r" b="b"/>
            <a:pathLst>
              <a:path w="7560309" h="459105">
                <a:moveTo>
                  <a:pt x="0" y="458986"/>
                </a:moveTo>
                <a:lnTo>
                  <a:pt x="7559992" y="458986"/>
                </a:lnTo>
                <a:lnTo>
                  <a:pt x="7559992" y="0"/>
                </a:lnTo>
                <a:lnTo>
                  <a:pt x="0" y="0"/>
                </a:lnTo>
                <a:lnTo>
                  <a:pt x="0" y="458986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9" name="object 56">
            <a:extLst>
              <a:ext uri="{FF2B5EF4-FFF2-40B4-BE49-F238E27FC236}">
                <a16:creationId xmlns:a16="http://schemas.microsoft.com/office/drawing/2014/main" id="{B8400798-2355-40E7-9625-1E4E09736EF2}"/>
              </a:ext>
            </a:extLst>
          </p:cNvPr>
          <p:cNvSpPr/>
          <p:nvPr/>
        </p:nvSpPr>
        <p:spPr>
          <a:xfrm>
            <a:off x="0" y="9675991"/>
            <a:ext cx="6861457" cy="230009"/>
          </a:xfrm>
          <a:custGeom>
            <a:avLst/>
            <a:gdLst/>
            <a:ahLst/>
            <a:cxnLst/>
            <a:rect l="l" t="t" r="r" b="b"/>
            <a:pathLst>
              <a:path w="7560309" h="662940">
                <a:moveTo>
                  <a:pt x="7559992" y="0"/>
                </a:moveTo>
                <a:lnTo>
                  <a:pt x="0" y="0"/>
                </a:lnTo>
                <a:lnTo>
                  <a:pt x="0" y="662431"/>
                </a:lnTo>
                <a:lnTo>
                  <a:pt x="7559992" y="662431"/>
                </a:lnTo>
                <a:lnTo>
                  <a:pt x="7559992" y="0"/>
                </a:lnTo>
                <a:close/>
              </a:path>
            </a:pathLst>
          </a:custGeom>
          <a:solidFill>
            <a:srgbClr val="8C2070"/>
          </a:solidFill>
        </p:spPr>
        <p:txBody>
          <a:bodyPr wrap="square" lIns="0" tIns="0" rIns="0" bIns="0" rtlCol="0"/>
          <a:lstStyle/>
          <a:p>
            <a:endParaRPr sz="150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4B40761-F6C5-4285-87EC-6060BF07C127}"/>
              </a:ext>
            </a:extLst>
          </p:cNvPr>
          <p:cNvSpPr txBox="1"/>
          <p:nvPr/>
        </p:nvSpPr>
        <p:spPr>
          <a:xfrm>
            <a:off x="127209" y="9703106"/>
            <a:ext cx="6720203" cy="190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635" b="1" dirty="0">
                <a:solidFill>
                  <a:srgbClr val="FFFF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أنك تتعامل مع شركة عالم الفخامة التي وظفت خبراتها اتجاه جمع المعلومة الصحيحة و الخدمة الحقيقة التي لا تجعلك تندم لأختيارك الشركة ، توكل على الله و تواصل معنا الآن</a:t>
            </a:r>
            <a:endParaRPr lang="en-US" sz="635" b="1" dirty="0">
              <a:solidFill>
                <a:srgbClr val="FFFF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4153BE9-3871-44D3-A237-0C61142B6D8D}"/>
              </a:ext>
            </a:extLst>
          </p:cNvPr>
          <p:cNvGrpSpPr/>
          <p:nvPr/>
        </p:nvGrpSpPr>
        <p:grpSpPr>
          <a:xfrm>
            <a:off x="2459051" y="1700368"/>
            <a:ext cx="1936263" cy="2338232"/>
            <a:chOff x="1292300" y="1542111"/>
            <a:chExt cx="2155749" cy="3763815"/>
          </a:xfrm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CC12F910-304F-4F71-8334-AF5291F9A47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D99EEA6-A486-4C7C-A71E-12772DE88E23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B9CD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الثاني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07" name="Rectangle: Rounded Corners 206">
              <a:extLst>
                <a:ext uri="{FF2B5EF4-FFF2-40B4-BE49-F238E27FC236}">
                  <a16:creationId xmlns:a16="http://schemas.microsoft.com/office/drawing/2014/main" id="{F282E3B3-D1DC-4B30-93F2-280549419A02}"/>
                </a:ext>
              </a:extLst>
            </p:cNvPr>
            <p:cNvSpPr/>
            <p:nvPr/>
          </p:nvSpPr>
          <p:spPr>
            <a:xfrm>
              <a:off x="1561298" y="4916292"/>
              <a:ext cx="1646671" cy="328250"/>
            </a:xfrm>
            <a:prstGeom prst="roundRect">
              <a:avLst>
                <a:gd name="adj" fmla="val 50000"/>
              </a:avLst>
            </a:prstGeom>
            <a:solidFill>
              <a:srgbClr val="B9CDE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  <a:endParaRPr lang="en-US" sz="908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08" name="Rectangle: Rounded Corners 207">
            <a:extLst>
              <a:ext uri="{FF2B5EF4-FFF2-40B4-BE49-F238E27FC236}">
                <a16:creationId xmlns:a16="http://schemas.microsoft.com/office/drawing/2014/main" id="{0CD852E3-A26B-424F-9DCF-1759586DE411}"/>
              </a:ext>
            </a:extLst>
          </p:cNvPr>
          <p:cNvSpPr/>
          <p:nvPr/>
        </p:nvSpPr>
        <p:spPr>
          <a:xfrm>
            <a:off x="2557600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10" name="Rectangle: Rounded Corners 209">
            <a:extLst>
              <a:ext uri="{FF2B5EF4-FFF2-40B4-BE49-F238E27FC236}">
                <a16:creationId xmlns:a16="http://schemas.microsoft.com/office/drawing/2014/main" id="{056B2E14-7A87-4C9D-A9A0-F10E7CD6A4F6}"/>
              </a:ext>
            </a:extLst>
          </p:cNvPr>
          <p:cNvSpPr/>
          <p:nvPr/>
        </p:nvSpPr>
        <p:spPr>
          <a:xfrm>
            <a:off x="3502716" y="1977634"/>
            <a:ext cx="796921" cy="489412"/>
          </a:xfrm>
          <a:prstGeom prst="roundRect">
            <a:avLst/>
          </a:prstGeom>
          <a:solidFill>
            <a:srgbClr val="B9CDE5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627DAF1A-AC30-4261-A1F6-80C00B0B7F5F}"/>
              </a:ext>
            </a:extLst>
          </p:cNvPr>
          <p:cNvGrpSpPr/>
          <p:nvPr/>
        </p:nvGrpSpPr>
        <p:grpSpPr>
          <a:xfrm>
            <a:off x="4637037" y="1657135"/>
            <a:ext cx="1936263" cy="2329114"/>
            <a:chOff x="1292300" y="1542111"/>
            <a:chExt cx="2155749" cy="3763815"/>
          </a:xfrm>
        </p:grpSpPr>
        <p:sp>
          <p:nvSpPr>
            <p:cNvPr id="270" name="Rectangle: Rounded Corners 269">
              <a:extLst>
                <a:ext uri="{FF2B5EF4-FFF2-40B4-BE49-F238E27FC236}">
                  <a16:creationId xmlns:a16="http://schemas.microsoft.com/office/drawing/2014/main" id="{E757E57C-076A-432A-958F-46CCA44242E7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BAE3CD0-ACB5-4A18-BCBA-C04D067C7C6D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CC00C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الاول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72" name="Rectangle: Rounded Corners 271">
              <a:extLst>
                <a:ext uri="{FF2B5EF4-FFF2-40B4-BE49-F238E27FC236}">
                  <a16:creationId xmlns:a16="http://schemas.microsoft.com/office/drawing/2014/main" id="{87ADD32F-13FF-480D-9EF2-985C1046D119}"/>
                </a:ext>
              </a:extLst>
            </p:cNvPr>
            <p:cNvSpPr/>
            <p:nvPr/>
          </p:nvSpPr>
          <p:spPr>
            <a:xfrm>
              <a:off x="1580696" y="4911053"/>
              <a:ext cx="1570792" cy="336616"/>
            </a:xfrm>
            <a:prstGeom prst="roundRect">
              <a:avLst>
                <a:gd name="adj" fmla="val 50000"/>
              </a:avLst>
            </a:prstGeom>
            <a:solidFill>
              <a:srgbClr val="CC00C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  <a:endParaRPr lang="en-US" sz="908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</p:grp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6C5AFD1D-4221-441C-882D-F606D0DD2B10}"/>
              </a:ext>
            </a:extLst>
          </p:cNvPr>
          <p:cNvSpPr/>
          <p:nvPr/>
        </p:nvSpPr>
        <p:spPr>
          <a:xfrm>
            <a:off x="4735586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2B62DDC0-9AEC-48F9-9E5C-C43EAE6438BE}"/>
              </a:ext>
            </a:extLst>
          </p:cNvPr>
          <p:cNvSpPr/>
          <p:nvPr/>
        </p:nvSpPr>
        <p:spPr>
          <a:xfrm>
            <a:off x="5680702" y="1934401"/>
            <a:ext cx="796921" cy="489412"/>
          </a:xfrm>
          <a:prstGeom prst="roundRect">
            <a:avLst/>
          </a:prstGeom>
          <a:solidFill>
            <a:srgbClr val="CC00CC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1CF261D-0E86-4F41-8B71-654FDC4FC331}"/>
              </a:ext>
            </a:extLst>
          </p:cNvPr>
          <p:cNvGrpSpPr/>
          <p:nvPr/>
        </p:nvGrpSpPr>
        <p:grpSpPr>
          <a:xfrm>
            <a:off x="1449800" y="4114800"/>
            <a:ext cx="1936263" cy="2433771"/>
            <a:chOff x="1292300" y="1542111"/>
            <a:chExt cx="2155749" cy="3763815"/>
          </a:xfrm>
        </p:grpSpPr>
        <p:sp>
          <p:nvSpPr>
            <p:cNvPr id="288" name="Rectangle: Rounded Corners 287">
              <a:extLst>
                <a:ext uri="{FF2B5EF4-FFF2-40B4-BE49-F238E27FC236}">
                  <a16:creationId xmlns:a16="http://schemas.microsoft.com/office/drawing/2014/main" id="{28303A03-C48D-4938-A829-EE7B43E31244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D9838414-F3C4-4263-AE2A-7CDDE734F6D6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الخامس  </a:t>
              </a:r>
              <a:r>
                <a:rPr lang="ar-IQ" sz="726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0" name="Rectangle: Rounded Corners 289">
              <a:extLst>
                <a:ext uri="{FF2B5EF4-FFF2-40B4-BE49-F238E27FC236}">
                  <a16:creationId xmlns:a16="http://schemas.microsoft.com/office/drawing/2014/main" id="{481962AF-0F66-467E-82D2-82BE26273FDE}"/>
                </a:ext>
              </a:extLst>
            </p:cNvPr>
            <p:cNvSpPr/>
            <p:nvPr/>
          </p:nvSpPr>
          <p:spPr>
            <a:xfrm>
              <a:off x="1791499" y="4920654"/>
              <a:ext cx="1154933" cy="333849"/>
            </a:xfrm>
            <a:prstGeom prst="roundRect">
              <a:avLst>
                <a:gd name="adj" fmla="val 50000"/>
              </a:avLst>
            </a:prstGeom>
            <a:solidFill>
              <a:srgbClr val="8064A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bg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راقي</a:t>
              </a:r>
            </a:p>
          </p:txBody>
        </p:sp>
      </p:grp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89A74834-676E-4833-950D-6060195271FF}"/>
              </a:ext>
            </a:extLst>
          </p:cNvPr>
          <p:cNvSpPr/>
          <p:nvPr/>
        </p:nvSpPr>
        <p:spPr>
          <a:xfrm>
            <a:off x="1548349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1E47787C-DE16-458F-8F12-FA7134E328FA}"/>
              </a:ext>
            </a:extLst>
          </p:cNvPr>
          <p:cNvSpPr/>
          <p:nvPr/>
        </p:nvSpPr>
        <p:spPr>
          <a:xfrm>
            <a:off x="2493465" y="4392066"/>
            <a:ext cx="796921" cy="489412"/>
          </a:xfrm>
          <a:prstGeom prst="roundRect">
            <a:avLst/>
          </a:prstGeom>
          <a:solidFill>
            <a:srgbClr val="8064A2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7C6ADEC2-5865-43C3-B275-97C28E0A12FA}"/>
              </a:ext>
            </a:extLst>
          </p:cNvPr>
          <p:cNvGrpSpPr/>
          <p:nvPr/>
        </p:nvGrpSpPr>
        <p:grpSpPr>
          <a:xfrm>
            <a:off x="3627786" y="4124577"/>
            <a:ext cx="1936263" cy="2427841"/>
            <a:chOff x="1292300" y="1542111"/>
            <a:chExt cx="2155749" cy="3763815"/>
          </a:xfrm>
        </p:grpSpPr>
        <p:sp>
          <p:nvSpPr>
            <p:cNvPr id="298" name="Rectangle: Rounded Corners 297">
              <a:extLst>
                <a:ext uri="{FF2B5EF4-FFF2-40B4-BE49-F238E27FC236}">
                  <a16:creationId xmlns:a16="http://schemas.microsoft.com/office/drawing/2014/main" id="{550D67E4-74B2-40AB-822B-A117A3A1954D}"/>
                </a:ext>
              </a:extLst>
            </p:cNvPr>
            <p:cNvSpPr/>
            <p:nvPr/>
          </p:nvSpPr>
          <p:spPr>
            <a:xfrm>
              <a:off x="1300465" y="1552074"/>
              <a:ext cx="2147584" cy="375385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19"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107F72AB-BAEF-484B-B666-D97B81E798B7}"/>
                </a:ext>
              </a:extLst>
            </p:cNvPr>
            <p:cNvSpPr/>
            <p:nvPr/>
          </p:nvSpPr>
          <p:spPr>
            <a:xfrm>
              <a:off x="1292300" y="1542111"/>
              <a:ext cx="2147585" cy="417443"/>
            </a:xfrm>
            <a:custGeom>
              <a:avLst/>
              <a:gdLst>
                <a:gd name="connsiteX0" fmla="*/ 408087 w 2448474"/>
                <a:gd name="connsiteY0" fmla="*/ 0 h 671763"/>
                <a:gd name="connsiteX1" fmla="*/ 2040387 w 2448474"/>
                <a:gd name="connsiteY1" fmla="*/ 0 h 671763"/>
                <a:gd name="connsiteX2" fmla="*/ 2448474 w 2448474"/>
                <a:gd name="connsiteY2" fmla="*/ 408087 h 671763"/>
                <a:gd name="connsiteX3" fmla="*/ 2448474 w 2448474"/>
                <a:gd name="connsiteY3" fmla="*/ 671763 h 671763"/>
                <a:gd name="connsiteX4" fmla="*/ 0 w 2448474"/>
                <a:gd name="connsiteY4" fmla="*/ 671763 h 671763"/>
                <a:gd name="connsiteX5" fmla="*/ 0 w 2448474"/>
                <a:gd name="connsiteY5" fmla="*/ 408087 h 671763"/>
                <a:gd name="connsiteX6" fmla="*/ 408087 w 2448474"/>
                <a:gd name="connsiteY6" fmla="*/ 0 h 671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8474" h="671763">
                  <a:moveTo>
                    <a:pt x="408087" y="0"/>
                  </a:moveTo>
                  <a:lnTo>
                    <a:pt x="2040387" y="0"/>
                  </a:lnTo>
                  <a:cubicBezTo>
                    <a:pt x="2265767" y="0"/>
                    <a:pt x="2448474" y="182707"/>
                    <a:pt x="2448474" y="408087"/>
                  </a:cubicBezTo>
                  <a:lnTo>
                    <a:pt x="2448474" y="671763"/>
                  </a:lnTo>
                  <a:lnTo>
                    <a:pt x="0" y="671763"/>
                  </a:lnTo>
                  <a:lnTo>
                    <a:pt x="0" y="408087"/>
                  </a:lnTo>
                  <a:cubicBezTo>
                    <a:pt x="0" y="182707"/>
                    <a:pt x="182707" y="0"/>
                    <a:pt x="408087" y="0"/>
                  </a:cubicBezTo>
                  <a:close/>
                </a:path>
              </a:pathLst>
            </a:custGeom>
            <a:solidFill>
              <a:srgbClr val="FAC09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1089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البكج الرابع  </a:t>
              </a:r>
              <a:r>
                <a:rPr lang="ar-IQ" sz="726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(فندق + سيارة)</a:t>
              </a:r>
              <a:endParaRPr lang="en-US" sz="1089" b="1" dirty="0">
                <a:solidFill>
                  <a:schemeClr val="tx1"/>
                </a:solidFill>
                <a:latin typeface="Tajawal" panose="00000500000000000000" pitchFamily="2" charset="-78"/>
                <a:cs typeface="Tajawal" panose="00000500000000000000" pitchFamily="2" charset="-78"/>
              </a:endParaRPr>
            </a:p>
          </p:txBody>
        </p:sp>
        <p:sp>
          <p:nvSpPr>
            <p:cNvPr id="300" name="Rectangle: Rounded Corners 299">
              <a:extLst>
                <a:ext uri="{FF2B5EF4-FFF2-40B4-BE49-F238E27FC236}">
                  <a16:creationId xmlns:a16="http://schemas.microsoft.com/office/drawing/2014/main" id="{CAC5FAEE-B42C-41C2-8182-58251AF9B8C8}"/>
                </a:ext>
              </a:extLst>
            </p:cNvPr>
            <p:cNvSpPr/>
            <p:nvPr/>
          </p:nvSpPr>
          <p:spPr>
            <a:xfrm>
              <a:off x="1693129" y="4909489"/>
              <a:ext cx="1356156" cy="316728"/>
            </a:xfrm>
            <a:prstGeom prst="roundRect">
              <a:avLst>
                <a:gd name="adj" fmla="val 50000"/>
              </a:avLst>
            </a:prstGeom>
            <a:solidFill>
              <a:srgbClr val="FAC09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6681" tIns="23341" rIns="46681" bIns="2334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-IQ" sz="908" b="1" dirty="0">
                  <a:solidFill>
                    <a:schemeClr val="tx1"/>
                  </a:solidFill>
                  <a:latin typeface="Tajawal" panose="00000500000000000000" pitchFamily="2" charset="-78"/>
                  <a:cs typeface="Tajawal" panose="00000500000000000000" pitchFamily="2" charset="-78"/>
                </a:rPr>
                <a:t>اربع نجوم مميز</a:t>
              </a:r>
            </a:p>
          </p:txBody>
        </p:sp>
      </p:grp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84B8A4CA-4B97-4905-86F2-7FFEE12294A7}"/>
              </a:ext>
            </a:extLst>
          </p:cNvPr>
          <p:cNvSpPr/>
          <p:nvPr/>
        </p:nvSpPr>
        <p:spPr>
          <a:xfrm>
            <a:off x="3726335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E18264C4-407C-4EB5-948A-9489BED78CA7}"/>
              </a:ext>
            </a:extLst>
          </p:cNvPr>
          <p:cNvSpPr/>
          <p:nvPr/>
        </p:nvSpPr>
        <p:spPr>
          <a:xfrm>
            <a:off x="4671452" y="4401844"/>
            <a:ext cx="796921" cy="489412"/>
          </a:xfrm>
          <a:prstGeom prst="roundRect">
            <a:avLst/>
          </a:prstGeom>
          <a:solidFill>
            <a:srgbClr val="FAC09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357" name="Graphic 356">
            <a:extLst>
              <a:ext uri="{FF2B5EF4-FFF2-40B4-BE49-F238E27FC236}">
                <a16:creationId xmlns:a16="http://schemas.microsoft.com/office/drawing/2014/main" id="{B5B4F419-25D0-419B-83CE-0CDDB0751AC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2227" b="21214"/>
          <a:stretch/>
        </p:blipFill>
        <p:spPr>
          <a:xfrm flipH="1">
            <a:off x="1619451" y="7507341"/>
            <a:ext cx="5059895" cy="13692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5591421-B0AF-4736-B151-EBA4FB670AC5}"/>
              </a:ext>
            </a:extLst>
          </p:cNvPr>
          <p:cNvSpPr txBox="1"/>
          <p:nvPr/>
        </p:nvSpPr>
        <p:spPr>
          <a:xfrm>
            <a:off x="1641596" y="7677304"/>
            <a:ext cx="4890678" cy="123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الفنادق لدينا ارخص من مواقع الحجوزات ! والدفع بعد الوصول الى جورجيا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نختار لأقامتك افضل الخيارات لذلك توجد أسعار اقل بخدمة او بجودة اقل ! فعالم الفخامة تحب ان يكون عمليها مرتاح  في الرحلة 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البرنامج 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قابل للتغير </a:t>
            </a:r>
            <a:r>
              <a:rPr lang="ar-IQ" sz="908" b="1" dirty="0">
                <a:latin typeface="Tajawal" panose="00000500000000000000" pitchFamily="2" charset="-78"/>
                <a:cs typeface="Tajawal" panose="00000500000000000000" pitchFamily="2" charset="-78"/>
              </a:rPr>
              <a:t>مثلما تريد الرحلة رحلتك و نحن ننفذ .</a:t>
            </a:r>
          </a:p>
          <a:p>
            <a:pPr marL="155608" indent="-155608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الدفع كاش بعملة الدولار الأمريكي واذا كان بالبطاقة البنكية يضاف </a:t>
            </a:r>
            <a:r>
              <a:rPr lang="en-US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5</a:t>
            </a:r>
            <a:r>
              <a:rPr lang="ar-IQ" sz="908" b="1" dirty="0">
                <a:solidFill>
                  <a:srgbClr val="F61828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% عمولة . </a:t>
            </a:r>
          </a:p>
          <a:p>
            <a:endParaRPr lang="en-US" sz="635" dirty="0"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pic>
        <p:nvPicPr>
          <p:cNvPr id="134" name="Picture 133">
            <a:extLst>
              <a:ext uri="{FF2B5EF4-FFF2-40B4-BE49-F238E27FC236}">
                <a16:creationId xmlns:a16="http://schemas.microsoft.com/office/drawing/2014/main" id="{760AE6EB-BAA4-43AA-B47D-D2101010069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-13048"/>
            <a:ext cx="2133172" cy="726611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05A879C2-7195-4C3A-91E0-DD2FC256687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22227" b="21214"/>
          <a:stretch/>
        </p:blipFill>
        <p:spPr>
          <a:xfrm flipH="1">
            <a:off x="71645" y="7676039"/>
            <a:ext cx="1594972" cy="120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E7B46-1DCD-483C-842B-3D829556D431}"/>
              </a:ext>
            </a:extLst>
          </p:cNvPr>
          <p:cNvSpPr txBox="1"/>
          <p:nvPr/>
        </p:nvSpPr>
        <p:spPr>
          <a:xfrm>
            <a:off x="171251" y="7728970"/>
            <a:ext cx="1594972" cy="287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IQ" sz="1271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للتأكيد فقط ارسل</a:t>
            </a:r>
            <a:endParaRPr lang="en-US" sz="1271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54A4CEB-8520-4E7E-96EC-B0FE09F677EA}"/>
              </a:ext>
            </a:extLst>
          </p:cNvPr>
          <p:cNvSpPr txBox="1"/>
          <p:nvPr/>
        </p:nvSpPr>
        <p:spPr>
          <a:xfrm>
            <a:off x="116933" y="7983329"/>
            <a:ext cx="143167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جوازات السفر لأصدار الحجوزات و تأمين السفر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57D29BE-C551-42FB-A13B-66417464D98E}"/>
              </a:ext>
            </a:extLst>
          </p:cNvPr>
          <p:cNvSpPr txBox="1"/>
          <p:nvPr/>
        </p:nvSpPr>
        <p:spPr>
          <a:xfrm>
            <a:off x="164629" y="8359277"/>
            <a:ext cx="139921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وتذاكر السفر موضح بها الوصول و المغادرة </a:t>
            </a:r>
            <a:endParaRPr lang="en-US" sz="908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F91C7-D04D-4A0E-9BA5-586B5120AADD}"/>
              </a:ext>
            </a:extLst>
          </p:cNvPr>
          <p:cNvSpPr/>
          <p:nvPr/>
        </p:nvSpPr>
        <p:spPr>
          <a:xfrm>
            <a:off x="4196971" y="7432896"/>
            <a:ext cx="2460009" cy="363106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</a:bodyPr>
          <a:lstStyle/>
          <a:p>
            <a:pPr algn="ctr"/>
            <a:r>
              <a:rPr lang="ar-IQ" sz="1815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Tajawal" panose="00000500000000000000" pitchFamily="2" charset="-78"/>
                <a:cs typeface="Tajawal" panose="00000500000000000000" pitchFamily="2" charset="-78"/>
              </a:rPr>
              <a:t>ملاحظات مهمة</a:t>
            </a:r>
            <a:endParaRPr lang="en-US" sz="1815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4A06A20-835B-43FA-8ABB-0EC349261668}"/>
              </a:ext>
            </a:extLst>
          </p:cNvPr>
          <p:cNvSpPr txBox="1"/>
          <p:nvPr/>
        </p:nvSpPr>
        <p:spPr>
          <a:xfrm>
            <a:off x="72119" y="8914627"/>
            <a:ext cx="6669368" cy="76277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 rtl="1"/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أننا نعتز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بهويتنا الأسلامية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ولا نتخلى عن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مبادئنا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 منعنا هذه الامور التي يتم طلبها من (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قلة من الاشخاص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) و لانها تنافى تعاليم ديننا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الاسلامى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واخلاق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المسلمين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فأنها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منعت منعاً باتاً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ولمن يطلب هذه الامور تعتبر الرحلة ملغية: 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البغاء و المراقص وما شابهها و المشروبات الكحولية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 ، اذ كان طلبك يشابه المحرم فلا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تُتَمِمَ الحجز معنا فالعوائل أولى بخدماتنا </a:t>
            </a:r>
            <a:r>
              <a:rPr lang="ar-IQ" sz="1089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.. واذا ثبت هذه الأمور اثناء الرحلة </a:t>
            </a:r>
            <a:r>
              <a:rPr lang="ar-IQ" sz="1089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سيتم الغاء الحجوزات و المبلغ غير مسترجع كلياً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F00D1-CF20-493C-BBB4-7CF1C86A5135}"/>
              </a:ext>
            </a:extLst>
          </p:cNvPr>
          <p:cNvSpPr txBox="1"/>
          <p:nvPr/>
        </p:nvSpPr>
        <p:spPr>
          <a:xfrm>
            <a:off x="3450950" y="226120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91142D0-2D0D-4864-93AB-05FCEBFF4947}"/>
              </a:ext>
            </a:extLst>
          </p:cNvPr>
          <p:cNvSpPr txBox="1"/>
          <p:nvPr/>
        </p:nvSpPr>
        <p:spPr>
          <a:xfrm>
            <a:off x="2635236" y="218082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C00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52E94FB-293D-4A66-B700-7450660C71B2}"/>
              </a:ext>
            </a:extLst>
          </p:cNvPr>
          <p:cNvSpPr txBox="1"/>
          <p:nvPr/>
        </p:nvSpPr>
        <p:spPr>
          <a:xfrm>
            <a:off x="5668764" y="2234400"/>
            <a:ext cx="8787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BD599F9-8294-4737-9BD5-54DDA080FA7D}"/>
              </a:ext>
            </a:extLst>
          </p:cNvPr>
          <p:cNvSpPr txBox="1"/>
          <p:nvPr/>
        </p:nvSpPr>
        <p:spPr>
          <a:xfrm>
            <a:off x="4817217" y="213795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chemeClr val="bg1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46864D8-64DE-4D1F-96B1-0162E7AB22DD}"/>
              </a:ext>
            </a:extLst>
          </p:cNvPr>
          <p:cNvSpPr txBox="1"/>
          <p:nvPr/>
        </p:nvSpPr>
        <p:spPr>
          <a:xfrm>
            <a:off x="1297114" y="2274793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4CEA6ED-85F6-40B4-9FC1-499CECF8DAB4}"/>
              </a:ext>
            </a:extLst>
          </p:cNvPr>
          <p:cNvSpPr txBox="1"/>
          <p:nvPr/>
        </p:nvSpPr>
        <p:spPr>
          <a:xfrm>
            <a:off x="454835" y="216797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EB6709E-4C0C-4445-ADB5-16CB3C6D29B9}"/>
              </a:ext>
            </a:extLst>
          </p:cNvPr>
          <p:cNvSpPr txBox="1"/>
          <p:nvPr/>
        </p:nvSpPr>
        <p:spPr>
          <a:xfrm>
            <a:off x="2491560" y="4668396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solidFill>
                  <a:schemeClr val="bg1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F212D34-0559-44D1-AFA4-DD6405A0C54E}"/>
              </a:ext>
            </a:extLst>
          </p:cNvPr>
          <p:cNvSpPr txBox="1"/>
          <p:nvPr/>
        </p:nvSpPr>
        <p:spPr>
          <a:xfrm>
            <a:off x="1629808" y="4608304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pPr marL="0" marR="0" lvl="0" indent="0" algn="l" defTabSz="8398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IQ" sz="7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82A652C-C407-49A7-AB74-8039286D0015}"/>
              </a:ext>
            </a:extLst>
          </p:cNvPr>
          <p:cNvSpPr txBox="1"/>
          <p:nvPr/>
        </p:nvSpPr>
        <p:spPr>
          <a:xfrm>
            <a:off x="4665915" y="4675485"/>
            <a:ext cx="88036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IQ" sz="700" b="1" dirty="0">
                <a:latin typeface="Tajawal" panose="00000500000000000000" pitchFamily="2" charset="-78"/>
                <a:cs typeface="Tajawal" panose="00000500000000000000" pitchFamily="2" charset="-78"/>
              </a:rPr>
              <a:t>مع إفطار و اطلالة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C0DCC16-1971-412A-99B4-6C22C7FFEB67}"/>
              </a:ext>
            </a:extLst>
          </p:cNvPr>
          <p:cNvSpPr txBox="1"/>
          <p:nvPr/>
        </p:nvSpPr>
        <p:spPr>
          <a:xfrm>
            <a:off x="3822852" y="4584829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مع إفطار </a:t>
            </a:r>
          </a:p>
          <a:p>
            <a:r>
              <a:rPr lang="ar-IQ" sz="700" b="1" dirty="0">
                <a:solidFill>
                  <a:srgbClr val="0070C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بدون اطلالة</a:t>
            </a:r>
            <a:endParaRPr lang="en-US" sz="700" dirty="0">
              <a:solidFill>
                <a:srgbClr val="0070C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C6B5F73-7C72-4FB0-97C5-DAD379AA79E1}"/>
              </a:ext>
            </a:extLst>
          </p:cNvPr>
          <p:cNvSpPr txBox="1"/>
          <p:nvPr/>
        </p:nvSpPr>
        <p:spPr>
          <a:xfrm>
            <a:off x="2833889" y="7074661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إفطار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يومياً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15BD077-A67D-41C1-9D38-49978DEF426C}"/>
              </a:ext>
            </a:extLst>
          </p:cNvPr>
          <p:cNvSpPr txBox="1"/>
          <p:nvPr/>
        </p:nvSpPr>
        <p:spPr>
          <a:xfrm>
            <a:off x="2390425" y="7080768"/>
            <a:ext cx="545829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تأمين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سفر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8F0B00F-5185-4EB8-9340-4270F64019D3}"/>
              </a:ext>
            </a:extLst>
          </p:cNvPr>
          <p:cNvSpPr txBox="1"/>
          <p:nvPr/>
        </p:nvSpPr>
        <p:spPr>
          <a:xfrm>
            <a:off x="1846792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استقبال</a:t>
            </a:r>
            <a:b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</a:br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وتوديع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3578F53-2109-419E-94B9-852EB1C82BFA}"/>
              </a:ext>
            </a:extLst>
          </p:cNvPr>
          <p:cNvSpPr txBox="1"/>
          <p:nvPr/>
        </p:nvSpPr>
        <p:spPr>
          <a:xfrm>
            <a:off x="1371657" y="7067750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سيارة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خاصة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62832A5-86EA-4473-AC9D-F0A204E4F8B1}"/>
              </a:ext>
            </a:extLst>
          </p:cNvPr>
          <p:cNvSpPr txBox="1"/>
          <p:nvPr/>
        </p:nvSpPr>
        <p:spPr>
          <a:xfrm>
            <a:off x="914959" y="7074449"/>
            <a:ext cx="634856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إقامة</a:t>
            </a:r>
          </a:p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فندقية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C391930-A973-4A7B-A5AA-CBD752835242}"/>
              </a:ext>
            </a:extLst>
          </p:cNvPr>
          <p:cNvSpPr txBox="1"/>
          <p:nvPr/>
        </p:nvSpPr>
        <p:spPr>
          <a:xfrm>
            <a:off x="394677" y="7074449"/>
            <a:ext cx="691223" cy="371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908" b="1" dirty="0">
                <a:solidFill>
                  <a:srgbClr val="FFC00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التنقلات بين المدن</a:t>
            </a:r>
            <a:endParaRPr lang="en-US" sz="908" b="1" dirty="0">
              <a:solidFill>
                <a:srgbClr val="FFC00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53616A8-75D4-4B53-957D-1EE00F1DAFEB}"/>
              </a:ext>
            </a:extLst>
          </p:cNvPr>
          <p:cNvSpPr/>
          <p:nvPr/>
        </p:nvSpPr>
        <p:spPr>
          <a:xfrm>
            <a:off x="3836802" y="6619913"/>
            <a:ext cx="2899898" cy="822462"/>
          </a:xfrm>
          <a:prstGeom prst="rect">
            <a:avLst/>
          </a:prstGeom>
          <a:noFill/>
        </p:spPr>
        <p:txBody>
          <a:bodyPr wrap="square" lIns="82988" tIns="41494" rIns="82988" bIns="41494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ar-IQ" sz="2400" b="1" dirty="0">
                <a:ln/>
                <a:solidFill>
                  <a:schemeClr val="accent4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تشمل العروض على الخدمات التالية : </a:t>
            </a:r>
            <a:endParaRPr lang="en-US" sz="2400" b="1" dirty="0">
              <a:ln/>
              <a:solidFill>
                <a:schemeClr val="accent4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  <p:sp>
        <p:nvSpPr>
          <p:cNvPr id="125" name="Flowchart: Alternate Process 124">
            <a:extLst>
              <a:ext uri="{FF2B5EF4-FFF2-40B4-BE49-F238E27FC236}">
                <a16:creationId xmlns:a16="http://schemas.microsoft.com/office/drawing/2014/main" id="{ED1B4910-8D44-4879-A8C2-7191080A848F}"/>
              </a:ext>
            </a:extLst>
          </p:cNvPr>
          <p:cNvSpPr/>
          <p:nvPr/>
        </p:nvSpPr>
        <p:spPr>
          <a:xfrm>
            <a:off x="5502197" y="1967313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B1C50D91-4EC5-42BE-95FB-E0BD5F317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548" y="2011365"/>
            <a:ext cx="162887" cy="16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E9E27599-BBE8-4D3E-A867-0179CB71A85B}"/>
              </a:ext>
            </a:extLst>
          </p:cNvPr>
          <p:cNvSpPr txBox="1"/>
          <p:nvPr/>
        </p:nvSpPr>
        <p:spPr>
          <a:xfrm>
            <a:off x="5448916" y="2141793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2" name="Flowchart: Alternate Process 141">
            <a:extLst>
              <a:ext uri="{FF2B5EF4-FFF2-40B4-BE49-F238E27FC236}">
                <a16:creationId xmlns:a16="http://schemas.microsoft.com/office/drawing/2014/main" id="{804F3CEA-B5C5-4FC1-9E0C-01803447D4B4}"/>
              </a:ext>
            </a:extLst>
          </p:cNvPr>
          <p:cNvSpPr/>
          <p:nvPr/>
        </p:nvSpPr>
        <p:spPr>
          <a:xfrm>
            <a:off x="3309031" y="2014522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8D26A7C8-098C-47AF-B89F-5EA22167E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529" y="2070741"/>
            <a:ext cx="149444" cy="14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35DF188C-09E9-42C1-98A6-71E57C337661}"/>
              </a:ext>
            </a:extLst>
          </p:cNvPr>
          <p:cNvSpPr txBox="1"/>
          <p:nvPr/>
        </p:nvSpPr>
        <p:spPr>
          <a:xfrm>
            <a:off x="3251025" y="2192292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46" name="Flowchart: Alternate Process 145">
            <a:extLst>
              <a:ext uri="{FF2B5EF4-FFF2-40B4-BE49-F238E27FC236}">
                <a16:creationId xmlns:a16="http://schemas.microsoft.com/office/drawing/2014/main" id="{6473312C-22FB-425F-AA0A-A3015A48A1EC}"/>
              </a:ext>
            </a:extLst>
          </p:cNvPr>
          <p:cNvSpPr/>
          <p:nvPr/>
        </p:nvSpPr>
        <p:spPr>
          <a:xfrm>
            <a:off x="1127220" y="2002218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7895FB19-5456-478E-84B7-8E68C052F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97" y="2063489"/>
            <a:ext cx="150981" cy="15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C134F595-2969-4541-A7C0-DC41353BB3E0}"/>
              </a:ext>
            </a:extLst>
          </p:cNvPr>
          <p:cNvSpPr txBox="1"/>
          <p:nvPr/>
        </p:nvSpPr>
        <p:spPr>
          <a:xfrm>
            <a:off x="1065255" y="2175074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6" name="Flowchart: Alternate Process 155">
            <a:extLst>
              <a:ext uri="{FF2B5EF4-FFF2-40B4-BE49-F238E27FC236}">
                <a16:creationId xmlns:a16="http://schemas.microsoft.com/office/drawing/2014/main" id="{3806AB53-5A89-4EF4-8052-E6633F30CBFC}"/>
              </a:ext>
            </a:extLst>
          </p:cNvPr>
          <p:cNvSpPr/>
          <p:nvPr/>
        </p:nvSpPr>
        <p:spPr>
          <a:xfrm>
            <a:off x="4507206" y="4431819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7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CB5D455A-689A-43BE-8132-03D19C12A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130" y="4499951"/>
            <a:ext cx="149007" cy="14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84492812-9357-430C-845C-C820FB2767F1}"/>
              </a:ext>
            </a:extLst>
          </p:cNvPr>
          <p:cNvSpPr txBox="1"/>
          <p:nvPr/>
        </p:nvSpPr>
        <p:spPr>
          <a:xfrm>
            <a:off x="4452359" y="4630917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sp>
        <p:nvSpPr>
          <p:cNvPr id="159" name="Flowchart: Alternate Process 158">
            <a:extLst>
              <a:ext uri="{FF2B5EF4-FFF2-40B4-BE49-F238E27FC236}">
                <a16:creationId xmlns:a16="http://schemas.microsoft.com/office/drawing/2014/main" id="{3542B49F-BFA4-4E7D-9DD3-0867AED0BA7E}"/>
              </a:ext>
            </a:extLst>
          </p:cNvPr>
          <p:cNvSpPr/>
          <p:nvPr/>
        </p:nvSpPr>
        <p:spPr>
          <a:xfrm>
            <a:off x="2306681" y="4424714"/>
            <a:ext cx="220726" cy="404780"/>
          </a:xfrm>
          <a:prstGeom prst="flowChartAlternateProcess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0" name="Picture 4" descr="Dollar sign PNG transparent image download, size: 2000x2000px">
            <a:extLst>
              <a:ext uri="{FF2B5EF4-FFF2-40B4-BE49-F238E27FC236}">
                <a16:creationId xmlns:a16="http://schemas.microsoft.com/office/drawing/2014/main" id="{0A26B011-BD33-4BAA-82E3-9FB1EDE58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526" y="4478004"/>
            <a:ext cx="158432" cy="15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1BE632C5-498A-41FB-81BA-71F371CFC415}"/>
              </a:ext>
            </a:extLst>
          </p:cNvPr>
          <p:cNvSpPr txBox="1"/>
          <p:nvPr/>
        </p:nvSpPr>
        <p:spPr>
          <a:xfrm>
            <a:off x="2248472" y="4612031"/>
            <a:ext cx="33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IQ" sz="400" b="1" dirty="0">
                <a:solidFill>
                  <a:schemeClr val="bg1"/>
                </a:solidFill>
              </a:rPr>
              <a:t>دولار </a:t>
            </a:r>
          </a:p>
          <a:p>
            <a:pPr algn="ctr"/>
            <a:r>
              <a:rPr lang="ar-IQ" sz="400" b="1" dirty="0">
                <a:solidFill>
                  <a:schemeClr val="bg1"/>
                </a:solidFill>
              </a:rPr>
              <a:t>امريكي</a:t>
            </a:r>
            <a:endParaRPr lang="en-US" sz="400" b="1" dirty="0">
              <a:solidFill>
                <a:schemeClr val="bg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130E96F-9B0D-7F7A-78C6-71BF0CCF5843}"/>
              </a:ext>
            </a:extLst>
          </p:cNvPr>
          <p:cNvGraphicFramePr>
            <a:graphicFrameLocks noGrp="1"/>
          </p:cNvGraphicFramePr>
          <p:nvPr/>
        </p:nvGraphicFramePr>
        <p:xfrm>
          <a:off x="2385280" y="-53056"/>
          <a:ext cx="44692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320">
                  <a:extLst>
                    <a:ext uri="{9D8B030D-6E8A-4147-A177-3AD203B41FA5}">
                      <a16:colId xmlns:a16="http://schemas.microsoft.com/office/drawing/2014/main" val="2234261198"/>
                    </a:ext>
                  </a:extLst>
                </a:gridCol>
                <a:gridCol w="819438">
                  <a:extLst>
                    <a:ext uri="{9D8B030D-6E8A-4147-A177-3AD203B41FA5}">
                      <a16:colId xmlns:a16="http://schemas.microsoft.com/office/drawing/2014/main" val="295581609"/>
                    </a:ext>
                  </a:extLst>
                </a:gridCol>
                <a:gridCol w="509097">
                  <a:extLst>
                    <a:ext uri="{9D8B030D-6E8A-4147-A177-3AD203B41FA5}">
                      <a16:colId xmlns:a16="http://schemas.microsoft.com/office/drawing/2014/main" val="2651898369"/>
                    </a:ext>
                  </a:extLst>
                </a:gridCol>
                <a:gridCol w="728865">
                  <a:extLst>
                    <a:ext uri="{9D8B030D-6E8A-4147-A177-3AD203B41FA5}">
                      <a16:colId xmlns:a16="http://schemas.microsoft.com/office/drawing/2014/main" val="1777549104"/>
                    </a:ext>
                  </a:extLst>
                </a:gridCol>
                <a:gridCol w="758542">
                  <a:extLst>
                    <a:ext uri="{9D8B030D-6E8A-4147-A177-3AD203B41FA5}">
                      <a16:colId xmlns:a16="http://schemas.microsoft.com/office/drawing/2014/main" val="428754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عدد الغرف 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أيام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عـــدد الأيام: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7853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نوع الغرف 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ليالي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IQ" sz="900" b="1" dirty="0">
                        <a:solidFill>
                          <a:srgbClr val="FFFF0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r-IQ" sz="900" b="1" dirty="0">
                          <a:solidFill>
                            <a:srgbClr val="FFFF00"/>
                          </a:solidFill>
                          <a:latin typeface="Tajawal" panose="00000500000000000000" pitchFamily="2" charset="-78"/>
                          <a:cs typeface="Tajawal" panose="00000500000000000000" pitchFamily="2" charset="-78"/>
                        </a:rPr>
                        <a:t>عدد الليالي:</a:t>
                      </a:r>
                      <a:endParaRPr lang="en-US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20534"/>
                  </a:ext>
                </a:extLst>
              </a:tr>
            </a:tbl>
          </a:graphicData>
        </a:graphic>
      </p:graphicFrame>
      <p:graphicFrame>
        <p:nvGraphicFramePr>
          <p:cNvPr id="32" name="Table 3">
            <a:extLst>
              <a:ext uri="{FF2B5EF4-FFF2-40B4-BE49-F238E27FC236}">
                <a16:creationId xmlns:a16="http://schemas.microsoft.com/office/drawing/2014/main" id="{646228C5-7F50-1CF5-16BF-F84F2902265A}"/>
              </a:ext>
            </a:extLst>
          </p:cNvPr>
          <p:cNvGraphicFramePr>
            <a:graphicFrameLocks noGrp="1"/>
          </p:cNvGraphicFramePr>
          <p:nvPr/>
        </p:nvGraphicFramePr>
        <p:xfrm>
          <a:off x="157566" y="825065"/>
          <a:ext cx="6292295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2789">
                  <a:extLst>
                    <a:ext uri="{9D8B030D-6E8A-4147-A177-3AD203B41FA5}">
                      <a16:colId xmlns:a16="http://schemas.microsoft.com/office/drawing/2014/main" val="4765774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888058353"/>
                    </a:ext>
                  </a:extLst>
                </a:gridCol>
                <a:gridCol w="748906">
                  <a:extLst>
                    <a:ext uri="{9D8B030D-6E8A-4147-A177-3AD203B41FA5}">
                      <a16:colId xmlns:a16="http://schemas.microsoft.com/office/drawing/2014/main" val="14506204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مسار رحلتك </a:t>
                      </a:r>
                      <a:endParaRPr lang="en-US" sz="8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1"/>
                      <a:r>
                        <a:rPr lang="ar-IQ" sz="800" b="1" dirty="0"/>
                        <a:t>مطارت الوصول والمغادرة</a:t>
                      </a:r>
                      <a:endParaRPr lang="en-US" sz="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48011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rtl="1"/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IQ" sz="800" b="1" dirty="0">
                        <a:solidFill>
                          <a:srgbClr val="00206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700" b="1" dirty="0"/>
                        <a:t>مطار الوصل </a:t>
                      </a:r>
                      <a:endParaRPr lang="en-US" sz="7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127385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ar-IQ" sz="800" b="1" dirty="0">
                        <a:solidFill>
                          <a:srgbClr val="002060"/>
                        </a:solidFill>
                        <a:latin typeface="Tajawal" panose="00000500000000000000" pitchFamily="2" charset="-78"/>
                        <a:cs typeface="Tajawal" panose="00000500000000000000" pitchFamily="2" charset="-78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IQ" sz="700" b="1" dirty="0"/>
                        <a:t>مطار المغادرة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30739366"/>
                  </a:ext>
                </a:extLst>
              </a:tr>
            </a:tbl>
          </a:graphicData>
        </a:graphic>
      </p:graphicFrame>
      <p:pic>
        <p:nvPicPr>
          <p:cNvPr id="33" name="Picture 32">
            <a:extLst>
              <a:ext uri="{FF2B5EF4-FFF2-40B4-BE49-F238E27FC236}">
                <a16:creationId xmlns:a16="http://schemas.microsoft.com/office/drawing/2014/main" id="{BC1C66EA-11CA-69F7-BF16-0239A7FA2D6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45612" y="970610"/>
            <a:ext cx="451099" cy="451099"/>
          </a:xfrm>
          <a:prstGeom prst="rect">
            <a:avLst/>
          </a:prstGeom>
        </p:spPr>
      </p:pic>
      <p:sp>
        <p:nvSpPr>
          <p:cNvPr id="34" name="N2">
            <a:extLst>
              <a:ext uri="{FF2B5EF4-FFF2-40B4-BE49-F238E27FC236}">
                <a16:creationId xmlns:a16="http://schemas.microsoft.com/office/drawing/2014/main" id="{FF61E9DF-9209-CCCF-C63A-ED5AA0A77028}"/>
              </a:ext>
            </a:extLst>
          </p:cNvPr>
          <p:cNvSpPr txBox="1"/>
          <p:nvPr/>
        </p:nvSpPr>
        <p:spPr>
          <a:xfrm>
            <a:off x="900355" y="1158173"/>
            <a:ext cx="3744986" cy="2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sz="1089" b="1" dirty="0">
                <a:solidFill>
                  <a:srgbClr val="002060"/>
                </a:solidFill>
                <a:latin typeface="Tajawal" panose="00000500000000000000" pitchFamily="2" charset="-78"/>
                <a:cs typeface="Tajawal" panose="00000500000000000000" pitchFamily="2" charset="-78"/>
              </a:rPr>
              <a:t>{{Route}}</a:t>
            </a:r>
            <a:endParaRPr lang="ar-IQ" sz="1089" b="1" dirty="0">
              <a:solidFill>
                <a:srgbClr val="002060"/>
              </a:solidFill>
              <a:latin typeface="Tajawal" panose="00000500000000000000" pitchFamily="2" charset="-78"/>
              <a:cs typeface="Tajawal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15307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Tajawal AAA">
      <a:majorFont>
        <a:latin typeface="Tajawal"/>
        <a:ea typeface=""/>
        <a:cs typeface="Tajawal"/>
      </a:majorFont>
      <a:minorFont>
        <a:latin typeface="Tajawal"/>
        <a:ea typeface=""/>
        <a:cs typeface="Tajaw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11463</TotalTime>
  <Words>859</Words>
  <Application>Microsoft Office PowerPoint</Application>
  <PresentationFormat>A4 Paper (210x297 mm)</PresentationFormat>
  <Paragraphs>179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Tajawal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lwiat</dc:creator>
  <cp:lastModifiedBy>al3r18y1@outlook.com</cp:lastModifiedBy>
  <cp:revision>702</cp:revision>
  <dcterms:created xsi:type="dcterms:W3CDTF">2023-04-07T10:41:02Z</dcterms:created>
  <dcterms:modified xsi:type="dcterms:W3CDTF">2026-03-07T01:11:48Z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2023-02-09T00:00:00Z</vt:filetime>
  </property>
  <property fmtid="{D5CDD505-2E9C-101B-9397-08002B2CF9AE}" pid="3" name="Creator">
    <vt:lpwstr>Adobe InDesign 18.1 (Macintosh)</vt:lpwstr>
  </property>
  <property fmtid="{D5CDD505-2E9C-101B-9397-08002B2CF9AE}" pid="4" name="LastSaved">
    <vt:filetime>2023-04-07T00:00:00Z</vt:filetime>
  </property>
</Properties>
</file>