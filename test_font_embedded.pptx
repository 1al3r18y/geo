
<file path=[Content_Types].xml><?xml version="1.0" encoding="utf-8"?>
<Types xmlns="http://schemas.openxmlformats.org/package/2006/content-types">
  <Default Extension="bin" ContentType="application/vnd.ms-office.vbaPro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ms-powerpoint.presentation.macroEnabled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Default Extension="fntdata" ContentType="application/x-fontdata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90" r:id="rId2"/>
  </p:sldIdLst>
  <p:embeddedFontLst>
    <p:embeddedFont>
      <p:font typeface="Tajawal" panose="00000500000000000000" pitchFamily="2" charset="-78"/>
      <p:regular r:id="rId9"/>
      <p:bold r:id="rId10"/>
    </p:embeddedFont>
  </p:embeddedFontLst>
  <p:sldSz cx="6858000" cy="9906000" type="A4"/>
  <p:notesSz cx="7556500" cy="10693400"/>
  <p:defaultTextStyle>
    <a:defPPr>
      <a:defRPr lang="en-US"/>
    </a:defPPr>
    <a:lvl1pPr marL="0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68" userDrawn="1">
          <p15:clr>
            <a:srgbClr val="A4A3A4"/>
          </p15:clr>
        </p15:guide>
        <p15:guide id="2" pos="19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1818"/>
    <a:srgbClr val="F61828"/>
    <a:srgbClr val="F4E9E9"/>
    <a:srgbClr val="CC00CC"/>
    <a:srgbClr val="8064A2"/>
    <a:srgbClr val="FAC090"/>
    <a:srgbClr val="8C2070"/>
    <a:srgbClr val="B9CDE5"/>
    <a:srgbClr val="00B05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21" autoAdjust="0"/>
    <p:restoredTop sz="96340" autoAdjust="0"/>
  </p:normalViewPr>
  <p:slideViewPr>
    <p:cSldViewPr>
      <p:cViewPr>
        <p:scale>
          <a:sx n="125" d="100"/>
          <a:sy n="125" d="100"/>
        </p:scale>
        <p:origin x="2010" y="-2358"/>
      </p:cViewPr>
      <p:guideLst>
        <p:guide orient="horz" pos="2668"/>
        <p:guide pos="19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06/relationships/vbaProject" Target="vbaProject.bin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openxmlformats.org/officeDocument/2006/relationships/font" Target="fonts/471086BF-B212-4086-AAD9-36124CF6C8F6.fntdata"/><Relationship Id="rId10" Type="http://schemas.openxmlformats.org/officeDocument/2006/relationships/font" Target="fonts/FBBBE75D-9B05-E3FA-4D8C-7D5DEB1E67E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0196E3-39BA-4D0F-AD79-B4EA46CF747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28888" y="1336675"/>
            <a:ext cx="24987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913985-7287-4A39-8B4E-679FB4518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398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8888" y="1336675"/>
            <a:ext cx="2498725" cy="36083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13985-7287-4A39-8B4E-679FB45189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615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782" y="3070860"/>
            <a:ext cx="583419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9565" y="5547360"/>
            <a:ext cx="480463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en-US" spc="-54"/>
              <a:t>DuniaAlrehlat</a:t>
            </a:r>
            <a:endParaRPr lang="en-US" spc="-54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ar-IQ" spc="-41"/>
              <a:t>ضا</a:t>
            </a:r>
            <a:r>
              <a:rPr lang="ar-IQ" spc="27"/>
              <a:t>ي</a:t>
            </a:r>
            <a:r>
              <a:rPr lang="ar-IQ" spc="-45"/>
              <a:t>رلا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27"/>
              <a:t>زلملا</a:t>
            </a:r>
            <a:r>
              <a:rPr lang="ar-IQ" spc="-73"/>
              <a:t> </a:t>
            </a:r>
            <a:r>
              <a:rPr lang="ar-IQ" spc="141"/>
              <a:t>يح</a:t>
            </a:r>
            <a:r>
              <a:rPr lang="ar-IQ" spc="-73"/>
              <a:t> </a:t>
            </a:r>
            <a:r>
              <a:rPr lang="ar-IQ" spc="45"/>
              <a:t>،ءاسحلإا</a:t>
            </a:r>
            <a:r>
              <a:rPr lang="ar-IQ" spc="-73"/>
              <a:t> </a:t>
            </a:r>
            <a:r>
              <a:rPr lang="ar-IQ" spc="14"/>
              <a:t>عراش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14"/>
              <a:t>تلاحرلا</a:t>
            </a:r>
            <a:r>
              <a:rPr lang="ar-IQ" spc="-73"/>
              <a:t> </a:t>
            </a:r>
            <a:r>
              <a:rPr lang="ar-IQ" spc="-91"/>
              <a:t>ايند</a:t>
            </a:r>
            <a:endParaRPr lang="ar-IQ" spc="-91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en-US" spc="-54"/>
              <a:t>DuniaAlrehlat</a:t>
            </a:r>
            <a:endParaRPr lang="en-US" spc="-54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ar-IQ" spc="-41"/>
              <a:t>ضا</a:t>
            </a:r>
            <a:r>
              <a:rPr lang="ar-IQ" spc="27"/>
              <a:t>ي</a:t>
            </a:r>
            <a:r>
              <a:rPr lang="ar-IQ" spc="-45"/>
              <a:t>رلا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27"/>
              <a:t>زلملا</a:t>
            </a:r>
            <a:r>
              <a:rPr lang="ar-IQ" spc="-73"/>
              <a:t> </a:t>
            </a:r>
            <a:r>
              <a:rPr lang="ar-IQ" spc="141"/>
              <a:t>يح</a:t>
            </a:r>
            <a:r>
              <a:rPr lang="ar-IQ" spc="-73"/>
              <a:t> </a:t>
            </a:r>
            <a:r>
              <a:rPr lang="ar-IQ" spc="45"/>
              <a:t>،ءاسحلإا</a:t>
            </a:r>
            <a:r>
              <a:rPr lang="ar-IQ" spc="-73"/>
              <a:t> </a:t>
            </a:r>
            <a:r>
              <a:rPr lang="ar-IQ" spc="14"/>
              <a:t>عراش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14"/>
              <a:t>تلاحرلا</a:t>
            </a:r>
            <a:r>
              <a:rPr lang="ar-IQ" spc="-73"/>
              <a:t> </a:t>
            </a:r>
            <a:r>
              <a:rPr lang="ar-IQ" spc="-91"/>
              <a:t>ايند</a:t>
            </a:r>
            <a:endParaRPr lang="ar-IQ" spc="-91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3188" y="2278380"/>
            <a:ext cx="29857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4838" y="2278380"/>
            <a:ext cx="29857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en-US" spc="-54"/>
              <a:t>DuniaAlrehlat</a:t>
            </a:r>
            <a:endParaRPr lang="en-US" spc="-54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ar-IQ" spc="-41"/>
              <a:t>ضا</a:t>
            </a:r>
            <a:r>
              <a:rPr lang="ar-IQ" spc="27"/>
              <a:t>ي</a:t>
            </a:r>
            <a:r>
              <a:rPr lang="ar-IQ" spc="-45"/>
              <a:t>رلا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27"/>
              <a:t>زلملا</a:t>
            </a:r>
            <a:r>
              <a:rPr lang="ar-IQ" spc="-73"/>
              <a:t> </a:t>
            </a:r>
            <a:r>
              <a:rPr lang="ar-IQ" spc="141"/>
              <a:t>يح</a:t>
            </a:r>
            <a:r>
              <a:rPr lang="ar-IQ" spc="-73"/>
              <a:t> </a:t>
            </a:r>
            <a:r>
              <a:rPr lang="ar-IQ" spc="45"/>
              <a:t>،ءاسحلإا</a:t>
            </a:r>
            <a:r>
              <a:rPr lang="ar-IQ" spc="-73"/>
              <a:t> </a:t>
            </a:r>
            <a:r>
              <a:rPr lang="ar-IQ" spc="14"/>
              <a:t>عراش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14"/>
              <a:t>تلاحرلا</a:t>
            </a:r>
            <a:r>
              <a:rPr lang="ar-IQ" spc="-73"/>
              <a:t> </a:t>
            </a:r>
            <a:r>
              <a:rPr lang="ar-IQ" spc="-91"/>
              <a:t>ايند</a:t>
            </a:r>
            <a:endParaRPr lang="ar-IQ" spc="-91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en-US" spc="-54"/>
              <a:t>DuniaAlrehlat</a:t>
            </a:r>
            <a:endParaRPr lang="en-US" spc="-54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ar-IQ" spc="-41"/>
              <a:t>ضا</a:t>
            </a:r>
            <a:r>
              <a:rPr lang="ar-IQ" spc="27"/>
              <a:t>ي</a:t>
            </a:r>
            <a:r>
              <a:rPr lang="ar-IQ" spc="-45"/>
              <a:t>رلا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27"/>
              <a:t>زلملا</a:t>
            </a:r>
            <a:r>
              <a:rPr lang="ar-IQ" spc="-73"/>
              <a:t> </a:t>
            </a:r>
            <a:r>
              <a:rPr lang="ar-IQ" spc="141"/>
              <a:t>يح</a:t>
            </a:r>
            <a:r>
              <a:rPr lang="ar-IQ" spc="-73"/>
              <a:t> </a:t>
            </a:r>
            <a:r>
              <a:rPr lang="ar-IQ" spc="45"/>
              <a:t>،ءاسحلإا</a:t>
            </a:r>
            <a:r>
              <a:rPr lang="ar-IQ" spc="-73"/>
              <a:t> </a:t>
            </a:r>
            <a:r>
              <a:rPr lang="ar-IQ" spc="14"/>
              <a:t>عراش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14"/>
              <a:t>تلاحرلا</a:t>
            </a:r>
            <a:r>
              <a:rPr lang="ar-IQ" spc="-73"/>
              <a:t> </a:t>
            </a:r>
            <a:r>
              <a:rPr lang="ar-IQ" spc="-91"/>
              <a:t>ايند</a:t>
            </a:r>
            <a:endParaRPr lang="ar-IQ" spc="-91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en-US" spc="-54"/>
              <a:t>DuniaAlrehlat</a:t>
            </a:r>
            <a:endParaRPr lang="en-US" spc="-54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ar-IQ" spc="-41"/>
              <a:t>ضا</a:t>
            </a:r>
            <a:r>
              <a:rPr lang="ar-IQ" spc="27"/>
              <a:t>ي</a:t>
            </a:r>
            <a:r>
              <a:rPr lang="ar-IQ" spc="-45"/>
              <a:t>رلا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27"/>
              <a:t>زلملا</a:t>
            </a:r>
            <a:r>
              <a:rPr lang="ar-IQ" spc="-73"/>
              <a:t> </a:t>
            </a:r>
            <a:r>
              <a:rPr lang="ar-IQ" spc="141"/>
              <a:t>يح</a:t>
            </a:r>
            <a:r>
              <a:rPr lang="ar-IQ" spc="-73"/>
              <a:t> </a:t>
            </a:r>
            <a:r>
              <a:rPr lang="ar-IQ" spc="45"/>
              <a:t>،ءاسحلإا</a:t>
            </a:r>
            <a:r>
              <a:rPr lang="ar-IQ" spc="-73"/>
              <a:t> </a:t>
            </a:r>
            <a:r>
              <a:rPr lang="ar-IQ" spc="14"/>
              <a:t>عراش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14"/>
              <a:t>تلاحرلا</a:t>
            </a:r>
            <a:r>
              <a:rPr lang="ar-IQ" spc="-73"/>
              <a:t> </a:t>
            </a:r>
            <a:r>
              <a:rPr lang="ar-IQ" spc="-91"/>
              <a:t>ايند</a:t>
            </a:r>
            <a:endParaRPr lang="ar-IQ" spc="-91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3188" y="396240"/>
            <a:ext cx="61773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3188" y="2278380"/>
            <a:ext cx="61773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0364" y="9452095"/>
            <a:ext cx="912287" cy="1815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en-US" spc="-54"/>
              <a:t>DuniaAlrehlat</a:t>
            </a:r>
            <a:endParaRPr lang="en-US" spc="-54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674340" y="9452095"/>
            <a:ext cx="2912633" cy="1815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ar-IQ" spc="-41"/>
              <a:t>ضا</a:t>
            </a:r>
            <a:r>
              <a:rPr lang="ar-IQ" spc="27"/>
              <a:t>ي</a:t>
            </a:r>
            <a:r>
              <a:rPr lang="ar-IQ" spc="-45"/>
              <a:t>رلا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27"/>
              <a:t>زلملا</a:t>
            </a:r>
            <a:r>
              <a:rPr lang="ar-IQ" spc="-73"/>
              <a:t> </a:t>
            </a:r>
            <a:r>
              <a:rPr lang="ar-IQ" spc="141"/>
              <a:t>يح</a:t>
            </a:r>
            <a:r>
              <a:rPr lang="ar-IQ" spc="-73"/>
              <a:t> </a:t>
            </a:r>
            <a:r>
              <a:rPr lang="ar-IQ" spc="45"/>
              <a:t>،ءاسحلإا</a:t>
            </a:r>
            <a:r>
              <a:rPr lang="ar-IQ" spc="-73"/>
              <a:t> </a:t>
            </a:r>
            <a:r>
              <a:rPr lang="ar-IQ" spc="14"/>
              <a:t>عراش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14"/>
              <a:t>تلاحرلا</a:t>
            </a:r>
            <a:r>
              <a:rPr lang="ar-IQ" spc="-73"/>
              <a:t> </a:t>
            </a:r>
            <a:r>
              <a:rPr lang="ar-IQ" spc="-91"/>
              <a:t>ايند</a:t>
            </a:r>
            <a:endParaRPr lang="ar-IQ" spc="-91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41910" y="9212580"/>
            <a:ext cx="1578665" cy="25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14955">
        <a:defRPr>
          <a:latin typeface="+mn-lt"/>
          <a:ea typeface="+mn-ea"/>
          <a:cs typeface="+mn-cs"/>
        </a:defRPr>
      </a:lvl2pPr>
      <a:lvl3pPr marL="829909">
        <a:defRPr>
          <a:latin typeface="+mn-lt"/>
          <a:ea typeface="+mn-ea"/>
          <a:cs typeface="+mn-cs"/>
        </a:defRPr>
      </a:lvl3pPr>
      <a:lvl4pPr marL="1244864">
        <a:defRPr>
          <a:latin typeface="+mn-lt"/>
          <a:ea typeface="+mn-ea"/>
          <a:cs typeface="+mn-cs"/>
        </a:defRPr>
      </a:lvl4pPr>
      <a:lvl5pPr marL="1659819">
        <a:defRPr>
          <a:latin typeface="+mn-lt"/>
          <a:ea typeface="+mn-ea"/>
          <a:cs typeface="+mn-cs"/>
        </a:defRPr>
      </a:lvl5pPr>
      <a:lvl6pPr marL="2074774">
        <a:defRPr>
          <a:latin typeface="+mn-lt"/>
          <a:ea typeface="+mn-ea"/>
          <a:cs typeface="+mn-cs"/>
        </a:defRPr>
      </a:lvl6pPr>
      <a:lvl7pPr marL="2489728">
        <a:defRPr>
          <a:latin typeface="+mn-lt"/>
          <a:ea typeface="+mn-ea"/>
          <a:cs typeface="+mn-cs"/>
        </a:defRPr>
      </a:lvl7pPr>
      <a:lvl8pPr marL="2904683">
        <a:defRPr>
          <a:latin typeface="+mn-lt"/>
          <a:ea typeface="+mn-ea"/>
          <a:cs typeface="+mn-cs"/>
        </a:defRPr>
      </a:lvl8pPr>
      <a:lvl9pPr marL="331963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14955">
        <a:defRPr>
          <a:latin typeface="+mn-lt"/>
          <a:ea typeface="+mn-ea"/>
          <a:cs typeface="+mn-cs"/>
        </a:defRPr>
      </a:lvl2pPr>
      <a:lvl3pPr marL="829909">
        <a:defRPr>
          <a:latin typeface="+mn-lt"/>
          <a:ea typeface="+mn-ea"/>
          <a:cs typeface="+mn-cs"/>
        </a:defRPr>
      </a:lvl3pPr>
      <a:lvl4pPr marL="1244864">
        <a:defRPr>
          <a:latin typeface="+mn-lt"/>
          <a:ea typeface="+mn-ea"/>
          <a:cs typeface="+mn-cs"/>
        </a:defRPr>
      </a:lvl4pPr>
      <a:lvl5pPr marL="1659819">
        <a:defRPr>
          <a:latin typeface="+mn-lt"/>
          <a:ea typeface="+mn-ea"/>
          <a:cs typeface="+mn-cs"/>
        </a:defRPr>
      </a:lvl5pPr>
      <a:lvl6pPr marL="2074774">
        <a:defRPr>
          <a:latin typeface="+mn-lt"/>
          <a:ea typeface="+mn-ea"/>
          <a:cs typeface="+mn-cs"/>
        </a:defRPr>
      </a:lvl6pPr>
      <a:lvl7pPr marL="2489728">
        <a:defRPr>
          <a:latin typeface="+mn-lt"/>
          <a:ea typeface="+mn-ea"/>
          <a:cs typeface="+mn-cs"/>
        </a:defRPr>
      </a:lvl7pPr>
      <a:lvl8pPr marL="2904683">
        <a:defRPr>
          <a:latin typeface="+mn-lt"/>
          <a:ea typeface="+mn-ea"/>
          <a:cs typeface="+mn-cs"/>
        </a:defRPr>
      </a:lvl8pPr>
      <a:lvl9pPr marL="331963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B4851ED-B795-4134-83AE-1FFBA5315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5400000">
            <a:off x="-1425198" y="1525728"/>
            <a:ext cx="9704937" cy="6854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Graphic 197">
            <a:extLst>
              <a:ext uri="{FF2B5EF4-FFF2-40B4-BE49-F238E27FC236}">
                <a16:creationId xmlns:a16="http://schemas.microsoft.com/office/drawing/2014/main" id="{89533E1A-0AC4-4A89-9FA7-7DC8360AB2E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2227" b="21214"/>
          <a:stretch/>
        </p:blipFill>
        <p:spPr>
          <a:xfrm flipH="1">
            <a:off x="152400" y="6579180"/>
            <a:ext cx="3741572" cy="9399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894C86D-4F2A-4FC3-B728-C7837E9F3D80}"/>
              </a:ext>
            </a:extLst>
          </p:cNvPr>
          <p:cNvSpPr txBox="1"/>
          <p:nvPr/>
        </p:nvSpPr>
        <p:spPr>
          <a:xfrm>
            <a:off x="3277353" y="7069929"/>
            <a:ext cx="545829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خطوط</a:t>
            </a:r>
          </a:p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اتصال 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4FEE145-9EC8-48E7-826F-EC91021D9578}"/>
              </a:ext>
            </a:extLst>
          </p:cNvPr>
          <p:cNvGrpSpPr/>
          <p:nvPr/>
        </p:nvGrpSpPr>
        <p:grpSpPr>
          <a:xfrm>
            <a:off x="346199" y="6400800"/>
            <a:ext cx="3623973" cy="784975"/>
            <a:chOff x="3099515" y="8387552"/>
            <a:chExt cx="2014059" cy="4429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6522E01-03E9-4492-A2F8-2C95AE89DC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24" t="77064" r="54639" b="9480"/>
            <a:stretch/>
          </p:blipFill>
          <p:spPr>
            <a:xfrm>
              <a:off x="3099515" y="8387552"/>
              <a:ext cx="1219201" cy="44294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119F208-D1DB-40ED-8EED-1A0639225D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597" t="66155" r="62625" b="21246"/>
            <a:stretch/>
          </p:blipFill>
          <p:spPr>
            <a:xfrm>
              <a:off x="4199173" y="8401640"/>
              <a:ext cx="914401" cy="414765"/>
            </a:xfrm>
            <a:prstGeom prst="rect">
              <a:avLst/>
            </a:prstGeom>
          </p:spPr>
        </p:pic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59FE290B-4BF5-43CE-93F7-D687B3D46D0A}"/>
              </a:ext>
            </a:extLst>
          </p:cNvPr>
          <p:cNvGrpSpPr/>
          <p:nvPr/>
        </p:nvGrpSpPr>
        <p:grpSpPr>
          <a:xfrm>
            <a:off x="280190" y="1700249"/>
            <a:ext cx="1936263" cy="2321671"/>
            <a:chOff x="1292300" y="1542111"/>
            <a:chExt cx="2155749" cy="3763815"/>
          </a:xfrm>
        </p:grpSpPr>
        <p:sp>
          <p:nvSpPr>
            <p:cNvPr id="213" name="Rectangle: Rounded Corners 212">
              <a:extLst>
                <a:ext uri="{FF2B5EF4-FFF2-40B4-BE49-F238E27FC236}">
                  <a16:creationId xmlns:a16="http://schemas.microsoft.com/office/drawing/2014/main" id="{25F78863-3C27-4AD2-8C4B-9A7623681FA9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E0DFA797-4688-4ED0-B8B4-9A7F3BAC69FC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latin typeface="Tajawal" panose="00000500000000000000" pitchFamily="2" charset="-78"/>
                  <a:cs typeface="Tajawal" panose="00000500000000000000" pitchFamily="2" charset="-78"/>
                </a:rPr>
                <a:t>البكج الثالث</a:t>
              </a:r>
              <a:r>
                <a:rPr lang="ar-IQ" sz="1089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 </a:t>
              </a:r>
              <a:r>
                <a:rPr lang="ar-IQ" sz="726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15" name="Rectangle: Rounded Corners 214">
              <a:extLst>
                <a:ext uri="{FF2B5EF4-FFF2-40B4-BE49-F238E27FC236}">
                  <a16:creationId xmlns:a16="http://schemas.microsoft.com/office/drawing/2014/main" id="{446CABE4-84AC-41CA-9CF2-A642D956E166}"/>
                </a:ext>
              </a:extLst>
            </p:cNvPr>
            <p:cNvSpPr/>
            <p:nvPr/>
          </p:nvSpPr>
          <p:spPr>
            <a:xfrm>
              <a:off x="1650287" y="4913925"/>
              <a:ext cx="1360046" cy="328040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latin typeface="Tajawal" panose="00000500000000000000" pitchFamily="2" charset="-78"/>
                  <a:cs typeface="Tajawal" panose="00000500000000000000" pitchFamily="2" charset="-78"/>
                </a:rPr>
                <a:t>خمس نجوم</a:t>
              </a:r>
              <a:endParaRPr lang="en-US" sz="908" b="1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FDD19029-3264-4275-B29E-97E428BB8C2F}"/>
              </a:ext>
            </a:extLst>
          </p:cNvPr>
          <p:cNvSpPr/>
          <p:nvPr/>
        </p:nvSpPr>
        <p:spPr>
          <a:xfrm>
            <a:off x="378739" y="1977515"/>
            <a:ext cx="796921" cy="489412"/>
          </a:xfrm>
          <a:prstGeom prst="roundRect">
            <a:avLst/>
          </a:prstGeom>
          <a:solidFill>
            <a:srgbClr val="C0000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18" name="PW3">
            <a:extLst>
              <a:ext uri="{FF2B5EF4-FFF2-40B4-BE49-F238E27FC236}">
                <a16:creationId xmlns:a16="http://schemas.microsoft.com/office/drawing/2014/main" id="{DB8A999E-A965-48B0-B565-7E7FE1CAE282}"/>
              </a:ext>
            </a:extLst>
          </p:cNvPr>
          <p:cNvSpPr txBox="1"/>
          <p:nvPr/>
        </p:nvSpPr>
        <p:spPr>
          <a:xfrm>
            <a:off x="310341" y="1969198"/>
            <a:ext cx="944445" cy="53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52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{{O3_Price_NV}}</a:t>
            </a:r>
            <a:endParaRPr lang="ar-IQ" sz="635" b="1" dirty="0">
              <a:solidFill>
                <a:srgbClr val="FFFF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22" name="Rectangle: Rounded Corners 221">
            <a:extLst>
              <a:ext uri="{FF2B5EF4-FFF2-40B4-BE49-F238E27FC236}">
                <a16:creationId xmlns:a16="http://schemas.microsoft.com/office/drawing/2014/main" id="{7948E3DB-98D5-4AD2-9CE8-37028205400F}"/>
              </a:ext>
            </a:extLst>
          </p:cNvPr>
          <p:cNvSpPr/>
          <p:nvPr/>
        </p:nvSpPr>
        <p:spPr>
          <a:xfrm>
            <a:off x="1323855" y="1977515"/>
            <a:ext cx="796921" cy="489412"/>
          </a:xfrm>
          <a:prstGeom prst="roundRect">
            <a:avLst/>
          </a:prstGeom>
          <a:solidFill>
            <a:srgbClr val="C0000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23" name="PV3">
            <a:extLst>
              <a:ext uri="{FF2B5EF4-FFF2-40B4-BE49-F238E27FC236}">
                <a16:creationId xmlns:a16="http://schemas.microsoft.com/office/drawing/2014/main" id="{4761866A-94A2-4A09-B76A-209B34E90415}"/>
              </a:ext>
            </a:extLst>
          </p:cNvPr>
          <p:cNvSpPr txBox="1"/>
          <p:nvPr/>
        </p:nvSpPr>
        <p:spPr>
          <a:xfrm>
            <a:off x="1013922" y="2026080"/>
            <a:ext cx="1361270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52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{{O3_Price_V}}</a:t>
            </a:r>
            <a:endParaRPr lang="en-US" sz="726" b="1" dirty="0">
              <a:solidFill>
                <a:schemeClr val="accent5">
                  <a:lumMod val="20000"/>
                  <a:lumOff val="80000"/>
                </a:schemeClr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48" name="object 6">
            <a:extLst>
              <a:ext uri="{FF2B5EF4-FFF2-40B4-BE49-F238E27FC236}">
                <a16:creationId xmlns:a16="http://schemas.microsoft.com/office/drawing/2014/main" id="{595348B5-EDBD-4062-8134-74A9D785D347}"/>
              </a:ext>
            </a:extLst>
          </p:cNvPr>
          <p:cNvSpPr/>
          <p:nvPr/>
        </p:nvSpPr>
        <p:spPr>
          <a:xfrm>
            <a:off x="-1" y="0"/>
            <a:ext cx="6861457" cy="719965"/>
          </a:xfrm>
          <a:custGeom>
            <a:avLst/>
            <a:gdLst/>
            <a:ahLst/>
            <a:cxnLst/>
            <a:rect l="l" t="t" r="r" b="b"/>
            <a:pathLst>
              <a:path w="7560309" h="459105">
                <a:moveTo>
                  <a:pt x="0" y="458986"/>
                </a:moveTo>
                <a:lnTo>
                  <a:pt x="7559992" y="458986"/>
                </a:lnTo>
                <a:lnTo>
                  <a:pt x="7559992" y="0"/>
                </a:lnTo>
                <a:lnTo>
                  <a:pt x="0" y="0"/>
                </a:lnTo>
                <a:lnTo>
                  <a:pt x="0" y="458986"/>
                </a:lnTo>
                <a:close/>
              </a:path>
            </a:pathLst>
          </a:custGeom>
          <a:solidFill>
            <a:srgbClr val="8C2070"/>
          </a:solidFill>
        </p:spPr>
        <p:txBody>
          <a:bodyPr wrap="square" lIns="0" tIns="0" rIns="0" bIns="0" rtlCol="0"/>
          <a:lstStyle/>
          <a:p>
            <a:endParaRPr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E2F1C8A6-88D3-4158-BC7A-46F5F93A61E2}"/>
              </a:ext>
            </a:extLst>
          </p:cNvPr>
          <p:cNvSpPr txBox="1"/>
          <p:nvPr/>
        </p:nvSpPr>
        <p:spPr>
          <a:xfrm>
            <a:off x="5767373" y="117611"/>
            <a:ext cx="1014427" cy="427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IQ" sz="1089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عـــدد الأيام:	</a:t>
            </a:r>
          </a:p>
        </p:txBody>
      </p:sp>
      <p:sp>
        <p:nvSpPr>
          <p:cNvPr id="149" name="object 56">
            <a:extLst>
              <a:ext uri="{FF2B5EF4-FFF2-40B4-BE49-F238E27FC236}">
                <a16:creationId xmlns:a16="http://schemas.microsoft.com/office/drawing/2014/main" id="{B8400798-2355-40E7-9625-1E4E09736EF2}"/>
              </a:ext>
            </a:extLst>
          </p:cNvPr>
          <p:cNvSpPr/>
          <p:nvPr/>
        </p:nvSpPr>
        <p:spPr>
          <a:xfrm>
            <a:off x="0" y="9675991"/>
            <a:ext cx="6861457" cy="230009"/>
          </a:xfrm>
          <a:custGeom>
            <a:avLst/>
            <a:gdLst/>
            <a:ahLst/>
            <a:cxnLst/>
            <a:rect l="l" t="t" r="r" b="b"/>
            <a:pathLst>
              <a:path w="7560309" h="662940">
                <a:moveTo>
                  <a:pt x="7559992" y="0"/>
                </a:moveTo>
                <a:lnTo>
                  <a:pt x="0" y="0"/>
                </a:lnTo>
                <a:lnTo>
                  <a:pt x="0" y="662431"/>
                </a:lnTo>
                <a:lnTo>
                  <a:pt x="7559992" y="662431"/>
                </a:lnTo>
                <a:lnTo>
                  <a:pt x="7559992" y="0"/>
                </a:lnTo>
                <a:close/>
              </a:path>
            </a:pathLst>
          </a:custGeom>
          <a:solidFill>
            <a:srgbClr val="8C2070"/>
          </a:solidFill>
        </p:spPr>
        <p:txBody>
          <a:bodyPr wrap="square" lIns="0" tIns="0" rIns="0" bIns="0" rtlCol="0"/>
          <a:lstStyle/>
          <a:p>
            <a:endParaRPr sz="150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4B40761-F6C5-4285-87EC-6060BF07C127}"/>
              </a:ext>
            </a:extLst>
          </p:cNvPr>
          <p:cNvSpPr txBox="1"/>
          <p:nvPr/>
        </p:nvSpPr>
        <p:spPr>
          <a:xfrm>
            <a:off x="127209" y="9703106"/>
            <a:ext cx="6720203" cy="190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635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أنك تتعامل مع شركة عالم الفخامة التي وظفت خبراتها اتجاه جمع المعلومة الصحيحة و الخدمة الحقيقة التي لا تجعلك تندم لأختيارك الشركة ، توكل على الله و تواصل معنا الآن</a:t>
            </a:r>
            <a:endParaRPr lang="en-US" sz="635" b="1" dirty="0">
              <a:solidFill>
                <a:srgbClr val="FFFF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A2A5754-675E-48C0-9181-3131A3160CE3}"/>
              </a:ext>
            </a:extLst>
          </p:cNvPr>
          <p:cNvSpPr txBox="1"/>
          <p:nvPr/>
        </p:nvSpPr>
        <p:spPr>
          <a:xfrm>
            <a:off x="4054912" y="101627"/>
            <a:ext cx="898088" cy="2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IQ" sz="1089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عدد الغرف :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21137A0-9EA6-434D-AB14-A5E3C34B64F7}"/>
              </a:ext>
            </a:extLst>
          </p:cNvPr>
          <p:cNvSpPr txBox="1"/>
          <p:nvPr/>
        </p:nvSpPr>
        <p:spPr>
          <a:xfrm>
            <a:off x="4061777" y="321312"/>
            <a:ext cx="884357" cy="2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IQ" sz="1089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نوع الغرف :</a:t>
            </a:r>
          </a:p>
        </p:txBody>
      </p:sp>
      <p:graphicFrame>
        <p:nvGraphicFramePr>
          <p:cNvPr id="6" name="DBL4">
            <a:extLst>
              <a:ext uri="{FF2B5EF4-FFF2-40B4-BE49-F238E27FC236}">
                <a16:creationId xmlns:a16="http://schemas.microsoft.com/office/drawing/2014/main" id="{2C0A5BF4-72FF-4412-87BB-36444E5B45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385523"/>
              </p:ext>
            </p:extLst>
          </p:nvPr>
        </p:nvGraphicFramePr>
        <p:xfrm>
          <a:off x="356992" y="2466546"/>
          <a:ext cx="1761357" cy="113288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2608">
                  <a:extLst>
                    <a:ext uri="{9D8B030D-6E8A-4147-A177-3AD203B41FA5}">
                      <a16:colId xmlns:a16="http://schemas.microsoft.com/office/drawing/2014/main" val="4267363588"/>
                    </a:ext>
                  </a:extLst>
                </a:gridCol>
                <a:gridCol w="585592">
                  <a:extLst>
                    <a:ext uri="{9D8B030D-6E8A-4147-A177-3AD203B41FA5}">
                      <a16:colId xmlns:a16="http://schemas.microsoft.com/office/drawing/2014/main" val="1236181799"/>
                    </a:ext>
                  </a:extLst>
                </a:gridCol>
                <a:gridCol w="923157">
                  <a:extLst>
                    <a:ext uri="{9D8B030D-6E8A-4147-A177-3AD203B41FA5}">
                      <a16:colId xmlns:a16="http://schemas.microsoft.com/office/drawing/2014/main" val="208932020"/>
                    </a:ext>
                  </a:extLst>
                </a:gridCol>
              </a:tblGrid>
              <a:tr h="156765"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{#hotels_3}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>
                    <a:solidFill>
                      <a:srgbClr val="F4E9E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rgbClr val="F4E9E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899854"/>
                  </a:ext>
                </a:extLst>
              </a:tr>
              <a:tr h="699939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{{nights}}</a:t>
                      </a:r>
                    </a:p>
                  </a:txBody>
                  <a:tcPr marL="82988" marR="82988" marT="41494" marB="41494"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{{city}}</a:t>
                      </a:r>
                    </a:p>
                  </a:txBody>
                  <a:tcPr marL="82988" marR="82988" marT="41494" marB="41494" anchor="ctr"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{#hotels}</a:t>
                      </a:r>
                    </a:p>
                  </a:txBody>
                  <a:tcPr marL="0" marR="0" marT="0" marB="0" anchor="ctr"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92677"/>
                  </a:ext>
                </a:extLst>
              </a:tr>
              <a:tr h="156765"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{/hotels_3}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>
                    <a:solidFill>
                      <a:srgbClr val="F4E9E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rgbClr val="F4E9E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621390"/>
                  </a:ext>
                </a:extLst>
              </a:tr>
            </a:tbl>
          </a:graphicData>
        </a:graphic>
      </p:graphicFrame>
      <p:grpSp>
        <p:nvGrpSpPr>
          <p:cNvPr id="194" name="Group 193">
            <a:extLst>
              <a:ext uri="{FF2B5EF4-FFF2-40B4-BE49-F238E27FC236}">
                <a16:creationId xmlns:a16="http://schemas.microsoft.com/office/drawing/2014/main" id="{14153BE9-3871-44D3-A237-0C61142B6D8D}"/>
              </a:ext>
            </a:extLst>
          </p:cNvPr>
          <p:cNvGrpSpPr/>
          <p:nvPr/>
        </p:nvGrpSpPr>
        <p:grpSpPr>
          <a:xfrm>
            <a:off x="2459051" y="1700368"/>
            <a:ext cx="1936263" cy="2338232"/>
            <a:chOff x="1292300" y="1542111"/>
            <a:chExt cx="2155749" cy="3763815"/>
          </a:xfrm>
        </p:grpSpPr>
        <p:sp>
          <p:nvSpPr>
            <p:cNvPr id="195" name="Rectangle: Rounded Corners 194">
              <a:extLst>
                <a:ext uri="{FF2B5EF4-FFF2-40B4-BE49-F238E27FC236}">
                  <a16:creationId xmlns:a16="http://schemas.microsoft.com/office/drawing/2014/main" id="{CC12F910-304F-4F71-8334-AF5291F9A474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DD99EEA6-A486-4C7C-A71E-12772DE88E23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B9CDE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البكج الثاني </a:t>
              </a:r>
              <a:r>
                <a:rPr lang="ar-IQ" sz="726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tx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07" name="Rectangle: Rounded Corners 206">
              <a:extLst>
                <a:ext uri="{FF2B5EF4-FFF2-40B4-BE49-F238E27FC236}">
                  <a16:creationId xmlns:a16="http://schemas.microsoft.com/office/drawing/2014/main" id="{F282E3B3-D1DC-4B30-93F2-280549419A02}"/>
                </a:ext>
              </a:extLst>
            </p:cNvPr>
            <p:cNvSpPr/>
            <p:nvPr/>
          </p:nvSpPr>
          <p:spPr>
            <a:xfrm>
              <a:off x="1561298" y="4916292"/>
              <a:ext cx="1646671" cy="328250"/>
            </a:xfrm>
            <a:prstGeom prst="roundRect">
              <a:avLst>
                <a:gd name="adj" fmla="val 50000"/>
              </a:avLst>
            </a:prstGeom>
            <a:solidFill>
              <a:srgbClr val="B9CDE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اربع نجوم راقي</a:t>
              </a:r>
              <a:endParaRPr lang="en-US" sz="908" b="1" dirty="0">
                <a:solidFill>
                  <a:schemeClr val="tx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0CD852E3-A26B-424F-9DCF-1759586DE411}"/>
              </a:ext>
            </a:extLst>
          </p:cNvPr>
          <p:cNvSpPr/>
          <p:nvPr/>
        </p:nvSpPr>
        <p:spPr>
          <a:xfrm>
            <a:off x="2557600" y="1977634"/>
            <a:ext cx="796921" cy="489412"/>
          </a:xfrm>
          <a:prstGeom prst="roundRect">
            <a:avLst/>
          </a:prstGeom>
          <a:solidFill>
            <a:srgbClr val="B9CDE5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09" name="PW2">
            <a:extLst>
              <a:ext uri="{FF2B5EF4-FFF2-40B4-BE49-F238E27FC236}">
                <a16:creationId xmlns:a16="http://schemas.microsoft.com/office/drawing/2014/main" id="{790F32C0-AD82-4E88-91E5-3176ED0CB597}"/>
              </a:ext>
            </a:extLst>
          </p:cNvPr>
          <p:cNvSpPr txBox="1"/>
          <p:nvPr/>
        </p:nvSpPr>
        <p:spPr>
          <a:xfrm>
            <a:off x="2474154" y="1957744"/>
            <a:ext cx="944445" cy="53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52" b="1" dirty="0">
                <a:solidFill>
                  <a:srgbClr val="C00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{{O2_Price_NV}}</a:t>
            </a:r>
            <a:endParaRPr lang="ar-IQ" sz="635" b="1" dirty="0">
              <a:solidFill>
                <a:srgbClr val="C00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056B2E14-7A87-4C9D-A9A0-F10E7CD6A4F6}"/>
              </a:ext>
            </a:extLst>
          </p:cNvPr>
          <p:cNvSpPr/>
          <p:nvPr/>
        </p:nvSpPr>
        <p:spPr>
          <a:xfrm>
            <a:off x="3502716" y="1977634"/>
            <a:ext cx="796921" cy="489412"/>
          </a:xfrm>
          <a:prstGeom prst="roundRect">
            <a:avLst/>
          </a:prstGeom>
          <a:solidFill>
            <a:srgbClr val="B9CDE5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11" name="PV2">
            <a:extLst>
              <a:ext uri="{FF2B5EF4-FFF2-40B4-BE49-F238E27FC236}">
                <a16:creationId xmlns:a16="http://schemas.microsoft.com/office/drawing/2014/main" id="{722044A1-28CC-4045-A1E7-A4F77E619482}"/>
              </a:ext>
            </a:extLst>
          </p:cNvPr>
          <p:cNvSpPr txBox="1"/>
          <p:nvPr/>
        </p:nvSpPr>
        <p:spPr>
          <a:xfrm>
            <a:off x="3195987" y="2026199"/>
            <a:ext cx="1354858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52" b="1" dirty="0">
                <a:latin typeface="Tajawal" panose="00000500000000000000" pitchFamily="2" charset="-78"/>
                <a:cs typeface="Tajawal" panose="00000500000000000000" pitchFamily="2" charset="-78"/>
              </a:rPr>
              <a:t>{{O2_Price_V}}</a:t>
            </a:r>
            <a:endParaRPr lang="en-US" sz="726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aphicFrame>
        <p:nvGraphicFramePr>
          <p:cNvPr id="268" name="DBL3">
            <a:extLst>
              <a:ext uri="{FF2B5EF4-FFF2-40B4-BE49-F238E27FC236}">
                <a16:creationId xmlns:a16="http://schemas.microsoft.com/office/drawing/2014/main" id="{4A417157-8FC6-4A80-A112-43366EACB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503795"/>
              </p:ext>
            </p:extLst>
          </p:nvPr>
        </p:nvGraphicFramePr>
        <p:xfrm>
          <a:off x="2500527" y="2521164"/>
          <a:ext cx="1808084" cy="116686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6110">
                  <a:extLst>
                    <a:ext uri="{9D8B030D-6E8A-4147-A177-3AD203B41FA5}">
                      <a16:colId xmlns:a16="http://schemas.microsoft.com/office/drawing/2014/main" val="4267363588"/>
                    </a:ext>
                  </a:extLst>
                </a:gridCol>
                <a:gridCol w="543381">
                  <a:extLst>
                    <a:ext uri="{9D8B030D-6E8A-4147-A177-3AD203B41FA5}">
                      <a16:colId xmlns:a16="http://schemas.microsoft.com/office/drawing/2014/main" val="1236181799"/>
                    </a:ext>
                  </a:extLst>
                </a:gridCol>
                <a:gridCol w="1018593">
                  <a:extLst>
                    <a:ext uri="{9D8B030D-6E8A-4147-A177-3AD203B41FA5}">
                      <a16:colId xmlns:a16="http://schemas.microsoft.com/office/drawing/2014/main" val="208932020"/>
                    </a:ext>
                  </a:extLst>
                </a:gridCol>
              </a:tblGrid>
              <a:tr h="221898">
                <a:tc gridSpan="3"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{#hotels_2}</a:t>
                      </a:r>
                    </a:p>
                  </a:txBody>
                  <a:tcPr marL="82988" marR="82988" marT="41494" marB="4149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899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{{nights}}</a:t>
                      </a:r>
                    </a:p>
                  </a:txBody>
                  <a:tcPr marL="82988" marR="82988" marT="41494" marB="4149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{{city}}</a:t>
                      </a:r>
                    </a:p>
                  </a:txBody>
                  <a:tcPr marL="82988" marR="82988" marT="41494" marB="4149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{#hotels}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415102"/>
                  </a:ext>
                </a:extLst>
              </a:tr>
              <a:tr h="221898"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{/hotels_2}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322080"/>
                  </a:ext>
                </a:extLst>
              </a:tr>
            </a:tbl>
          </a:graphicData>
        </a:graphic>
      </p:graphicFrame>
      <p:grpSp>
        <p:nvGrpSpPr>
          <p:cNvPr id="269" name="Group 268">
            <a:extLst>
              <a:ext uri="{FF2B5EF4-FFF2-40B4-BE49-F238E27FC236}">
                <a16:creationId xmlns:a16="http://schemas.microsoft.com/office/drawing/2014/main" id="{627DAF1A-AC30-4261-A1F6-80C00B0B7F5F}"/>
              </a:ext>
            </a:extLst>
          </p:cNvPr>
          <p:cNvGrpSpPr/>
          <p:nvPr/>
        </p:nvGrpSpPr>
        <p:grpSpPr>
          <a:xfrm>
            <a:off x="4637037" y="1657135"/>
            <a:ext cx="1936263" cy="2329114"/>
            <a:chOff x="1292300" y="1542111"/>
            <a:chExt cx="2155749" cy="3763815"/>
          </a:xfrm>
        </p:grpSpPr>
        <p:sp>
          <p:nvSpPr>
            <p:cNvPr id="270" name="Rectangle: Rounded Corners 269">
              <a:extLst>
                <a:ext uri="{FF2B5EF4-FFF2-40B4-BE49-F238E27FC236}">
                  <a16:creationId xmlns:a16="http://schemas.microsoft.com/office/drawing/2014/main" id="{E757E57C-076A-432A-958F-46CCA44242E7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BAE3CD0-ACB5-4A18-BCBA-C04D067C7C6D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CC00CC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البكج الاول </a:t>
              </a:r>
              <a:r>
                <a:rPr lang="ar-IQ" sz="726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72" name="Rectangle: Rounded Corners 271">
              <a:extLst>
                <a:ext uri="{FF2B5EF4-FFF2-40B4-BE49-F238E27FC236}">
                  <a16:creationId xmlns:a16="http://schemas.microsoft.com/office/drawing/2014/main" id="{87ADD32F-13FF-480D-9EF2-985C1046D119}"/>
                </a:ext>
              </a:extLst>
            </p:cNvPr>
            <p:cNvSpPr/>
            <p:nvPr/>
          </p:nvSpPr>
          <p:spPr>
            <a:xfrm>
              <a:off x="1580696" y="4911053"/>
              <a:ext cx="1570792" cy="336616"/>
            </a:xfrm>
            <a:prstGeom prst="roundRect">
              <a:avLst>
                <a:gd name="adj" fmla="val 50000"/>
              </a:avLst>
            </a:prstGeom>
            <a:solidFill>
              <a:srgbClr val="CC00C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اربع نجوم مميز</a:t>
              </a:r>
              <a:endParaRPr lang="en-US" sz="908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sp>
        <p:nvSpPr>
          <p:cNvPr id="273" name="Rectangle: Rounded Corners 272">
            <a:extLst>
              <a:ext uri="{FF2B5EF4-FFF2-40B4-BE49-F238E27FC236}">
                <a16:creationId xmlns:a16="http://schemas.microsoft.com/office/drawing/2014/main" id="{6C5AFD1D-4221-441C-882D-F606D0DD2B10}"/>
              </a:ext>
            </a:extLst>
          </p:cNvPr>
          <p:cNvSpPr/>
          <p:nvPr/>
        </p:nvSpPr>
        <p:spPr>
          <a:xfrm>
            <a:off x="4735586" y="1934401"/>
            <a:ext cx="796921" cy="489412"/>
          </a:xfrm>
          <a:prstGeom prst="roundRect">
            <a:avLst/>
          </a:prstGeom>
          <a:solidFill>
            <a:srgbClr val="CC00CC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74" name="PW1">
            <a:extLst>
              <a:ext uri="{FF2B5EF4-FFF2-40B4-BE49-F238E27FC236}">
                <a16:creationId xmlns:a16="http://schemas.microsoft.com/office/drawing/2014/main" id="{6F66F1CB-87C7-4EA4-980F-AED31112761B}"/>
              </a:ext>
            </a:extLst>
          </p:cNvPr>
          <p:cNvSpPr txBox="1"/>
          <p:nvPr/>
        </p:nvSpPr>
        <p:spPr>
          <a:xfrm>
            <a:off x="4667359" y="1941775"/>
            <a:ext cx="944445" cy="53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52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{{O1_Price_NV}}</a:t>
            </a:r>
            <a:endParaRPr lang="ar-IQ" sz="635" b="1" dirty="0">
              <a:solidFill>
                <a:schemeClr val="bg1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75" name="Rectangle: Rounded Corners 274">
            <a:extLst>
              <a:ext uri="{FF2B5EF4-FFF2-40B4-BE49-F238E27FC236}">
                <a16:creationId xmlns:a16="http://schemas.microsoft.com/office/drawing/2014/main" id="{2B62DDC0-9AEC-48F9-9E5C-C43EAE6438BE}"/>
              </a:ext>
            </a:extLst>
          </p:cNvPr>
          <p:cNvSpPr/>
          <p:nvPr/>
        </p:nvSpPr>
        <p:spPr>
          <a:xfrm>
            <a:off x="5680702" y="1934401"/>
            <a:ext cx="796921" cy="489412"/>
          </a:xfrm>
          <a:prstGeom prst="roundRect">
            <a:avLst/>
          </a:prstGeom>
          <a:solidFill>
            <a:srgbClr val="CC00CC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76" name="PV1">
            <a:extLst>
              <a:ext uri="{FF2B5EF4-FFF2-40B4-BE49-F238E27FC236}">
                <a16:creationId xmlns:a16="http://schemas.microsoft.com/office/drawing/2014/main" id="{76AD4A60-FDF9-437B-8370-5E684FE11990}"/>
              </a:ext>
            </a:extLst>
          </p:cNvPr>
          <p:cNvSpPr txBox="1"/>
          <p:nvPr/>
        </p:nvSpPr>
        <p:spPr>
          <a:xfrm>
            <a:off x="5382788" y="1982966"/>
            <a:ext cx="1337226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52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{{O1_Price_V}}</a:t>
            </a:r>
            <a:endParaRPr lang="en-US" sz="726" b="1" dirty="0">
              <a:solidFill>
                <a:schemeClr val="bg1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aphicFrame>
        <p:nvGraphicFramePr>
          <p:cNvPr id="277" name="DBL2">
            <a:extLst>
              <a:ext uri="{FF2B5EF4-FFF2-40B4-BE49-F238E27FC236}">
                <a16:creationId xmlns:a16="http://schemas.microsoft.com/office/drawing/2014/main" id="{7F72B4B2-9FC1-4C82-950F-275E61D49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530306"/>
              </p:ext>
            </p:extLst>
          </p:nvPr>
        </p:nvGraphicFramePr>
        <p:xfrm>
          <a:off x="4719223" y="2421027"/>
          <a:ext cx="1778901" cy="10589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7793">
                  <a:extLst>
                    <a:ext uri="{9D8B030D-6E8A-4147-A177-3AD203B41FA5}">
                      <a16:colId xmlns:a16="http://schemas.microsoft.com/office/drawing/2014/main" val="4267363588"/>
                    </a:ext>
                  </a:extLst>
                </a:gridCol>
                <a:gridCol w="631961">
                  <a:extLst>
                    <a:ext uri="{9D8B030D-6E8A-4147-A177-3AD203B41FA5}">
                      <a16:colId xmlns:a16="http://schemas.microsoft.com/office/drawing/2014/main" val="1236181799"/>
                    </a:ext>
                  </a:extLst>
                </a:gridCol>
                <a:gridCol w="879147">
                  <a:extLst>
                    <a:ext uri="{9D8B030D-6E8A-4147-A177-3AD203B41FA5}">
                      <a16:colId xmlns:a16="http://schemas.microsoft.com/office/drawing/2014/main" val="208932020"/>
                    </a:ext>
                  </a:extLst>
                </a:gridCol>
              </a:tblGrid>
              <a:tr h="2213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{#hotels_1}</a:t>
                      </a: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423285"/>
                  </a:ext>
                </a:extLst>
              </a:tr>
              <a:tr h="221300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{{nights}}</a:t>
                      </a: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{{city}}</a:t>
                      </a: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{#hotels_1}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507738"/>
                  </a:ext>
                </a:extLst>
              </a:tr>
              <a:tr h="2213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{/hotels_1}</a:t>
                      </a: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214417"/>
                  </a:ext>
                </a:extLst>
              </a:tr>
            </a:tbl>
          </a:graphicData>
        </a:graphic>
      </p:graphicFrame>
      <p:grpSp>
        <p:nvGrpSpPr>
          <p:cNvPr id="287" name="Group 286">
            <a:extLst>
              <a:ext uri="{FF2B5EF4-FFF2-40B4-BE49-F238E27FC236}">
                <a16:creationId xmlns:a16="http://schemas.microsoft.com/office/drawing/2014/main" id="{41CF261D-0E86-4F41-8B71-654FDC4FC331}"/>
              </a:ext>
            </a:extLst>
          </p:cNvPr>
          <p:cNvGrpSpPr/>
          <p:nvPr/>
        </p:nvGrpSpPr>
        <p:grpSpPr>
          <a:xfrm>
            <a:off x="1449800" y="4114800"/>
            <a:ext cx="1936263" cy="2433771"/>
            <a:chOff x="1292300" y="1542111"/>
            <a:chExt cx="2155749" cy="3763815"/>
          </a:xfrm>
        </p:grpSpPr>
        <p:sp>
          <p:nvSpPr>
            <p:cNvPr id="288" name="Rectangle: Rounded Corners 287">
              <a:extLst>
                <a:ext uri="{FF2B5EF4-FFF2-40B4-BE49-F238E27FC236}">
                  <a16:creationId xmlns:a16="http://schemas.microsoft.com/office/drawing/2014/main" id="{28303A03-C48D-4938-A829-EE7B43E31244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D9838414-F3C4-4263-AE2A-7CDDE734F6D6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8064A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البكج الخامس  </a:t>
              </a:r>
              <a:r>
                <a:rPr lang="ar-IQ" sz="726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90" name="Rectangle: Rounded Corners 289">
              <a:extLst>
                <a:ext uri="{FF2B5EF4-FFF2-40B4-BE49-F238E27FC236}">
                  <a16:creationId xmlns:a16="http://schemas.microsoft.com/office/drawing/2014/main" id="{481962AF-0F66-467E-82D2-82BE26273FDE}"/>
                </a:ext>
              </a:extLst>
            </p:cNvPr>
            <p:cNvSpPr/>
            <p:nvPr/>
          </p:nvSpPr>
          <p:spPr>
            <a:xfrm>
              <a:off x="1791499" y="4920654"/>
              <a:ext cx="1154933" cy="333849"/>
            </a:xfrm>
            <a:prstGeom prst="roundRect">
              <a:avLst>
                <a:gd name="adj" fmla="val 50000"/>
              </a:avLst>
            </a:prstGeom>
            <a:solidFill>
              <a:srgbClr val="8064A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اربع نجوم راقي</a:t>
              </a:r>
            </a:p>
          </p:txBody>
        </p:sp>
      </p:grpSp>
      <p:sp>
        <p:nvSpPr>
          <p:cNvPr id="291" name="Rectangle: Rounded Corners 290">
            <a:extLst>
              <a:ext uri="{FF2B5EF4-FFF2-40B4-BE49-F238E27FC236}">
                <a16:creationId xmlns:a16="http://schemas.microsoft.com/office/drawing/2014/main" id="{89A74834-676E-4833-950D-6060195271FF}"/>
              </a:ext>
            </a:extLst>
          </p:cNvPr>
          <p:cNvSpPr/>
          <p:nvPr/>
        </p:nvSpPr>
        <p:spPr>
          <a:xfrm>
            <a:off x="1548349" y="4392066"/>
            <a:ext cx="796921" cy="489412"/>
          </a:xfrm>
          <a:prstGeom prst="roundRect">
            <a:avLst/>
          </a:prstGeom>
          <a:solidFill>
            <a:srgbClr val="8064A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92" name="PW5">
            <a:extLst>
              <a:ext uri="{FF2B5EF4-FFF2-40B4-BE49-F238E27FC236}">
                <a16:creationId xmlns:a16="http://schemas.microsoft.com/office/drawing/2014/main" id="{089AA54D-2F53-419F-B8A2-B4E0CD9D336D}"/>
              </a:ext>
            </a:extLst>
          </p:cNvPr>
          <p:cNvSpPr txBox="1"/>
          <p:nvPr/>
        </p:nvSpPr>
        <p:spPr>
          <a:xfrm>
            <a:off x="1479950" y="4434260"/>
            <a:ext cx="944445" cy="53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52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{{O5_Price_NV}}</a:t>
            </a:r>
            <a:endParaRPr lang="ar-IQ" sz="635" b="1" dirty="0">
              <a:solidFill>
                <a:srgbClr val="FFFF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93" name="Rectangle: Rounded Corners 292">
            <a:extLst>
              <a:ext uri="{FF2B5EF4-FFF2-40B4-BE49-F238E27FC236}">
                <a16:creationId xmlns:a16="http://schemas.microsoft.com/office/drawing/2014/main" id="{1E47787C-DE16-458F-8F12-FA7134E328FA}"/>
              </a:ext>
            </a:extLst>
          </p:cNvPr>
          <p:cNvSpPr/>
          <p:nvPr/>
        </p:nvSpPr>
        <p:spPr>
          <a:xfrm>
            <a:off x="2493465" y="4392066"/>
            <a:ext cx="796921" cy="489412"/>
          </a:xfrm>
          <a:prstGeom prst="roundRect">
            <a:avLst/>
          </a:prstGeom>
          <a:solidFill>
            <a:srgbClr val="8064A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94" name="PV5">
            <a:extLst>
              <a:ext uri="{FF2B5EF4-FFF2-40B4-BE49-F238E27FC236}">
                <a16:creationId xmlns:a16="http://schemas.microsoft.com/office/drawing/2014/main" id="{F108893F-00F7-40F1-B6F3-51545A168AB7}"/>
              </a:ext>
            </a:extLst>
          </p:cNvPr>
          <p:cNvSpPr txBox="1"/>
          <p:nvPr/>
        </p:nvSpPr>
        <p:spPr>
          <a:xfrm>
            <a:off x="2183532" y="4440631"/>
            <a:ext cx="1361270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52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{{O5_Price_V}}</a:t>
            </a:r>
            <a:endParaRPr lang="en-US" sz="726" b="1" dirty="0">
              <a:solidFill>
                <a:schemeClr val="bg1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aphicFrame>
        <p:nvGraphicFramePr>
          <p:cNvPr id="296" name="DBL6">
            <a:extLst>
              <a:ext uri="{FF2B5EF4-FFF2-40B4-BE49-F238E27FC236}">
                <a16:creationId xmlns:a16="http://schemas.microsoft.com/office/drawing/2014/main" id="{2B12FF0C-3287-40AD-B0AA-817953BD1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094840"/>
              </p:ext>
            </p:extLst>
          </p:nvPr>
        </p:nvGraphicFramePr>
        <p:xfrm>
          <a:off x="1524813" y="4911050"/>
          <a:ext cx="1778901" cy="17447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1376">
                  <a:extLst>
                    <a:ext uri="{9D8B030D-6E8A-4147-A177-3AD203B41FA5}">
                      <a16:colId xmlns:a16="http://schemas.microsoft.com/office/drawing/2014/main" val="4267363588"/>
                    </a:ext>
                  </a:extLst>
                </a:gridCol>
                <a:gridCol w="578003">
                  <a:extLst>
                    <a:ext uri="{9D8B030D-6E8A-4147-A177-3AD203B41FA5}">
                      <a16:colId xmlns:a16="http://schemas.microsoft.com/office/drawing/2014/main" val="1236181799"/>
                    </a:ext>
                  </a:extLst>
                </a:gridCol>
                <a:gridCol w="1009522">
                  <a:extLst>
                    <a:ext uri="{9D8B030D-6E8A-4147-A177-3AD203B41FA5}">
                      <a16:colId xmlns:a16="http://schemas.microsoft.com/office/drawing/2014/main" val="208932020"/>
                    </a:ext>
                  </a:extLst>
                </a:gridCol>
              </a:tblGrid>
              <a:tr h="2213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{#hotels_5}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899854"/>
                  </a:ext>
                </a:extLst>
              </a:tr>
              <a:tr h="22130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{{nights}}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{{city}}</a:t>
                      </a:r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{{hotel}}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483763"/>
                  </a:ext>
                </a:extLst>
              </a:tr>
              <a:tr h="221300">
                <a:tc gridSpan="3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{/hotels_5}</a:t>
                      </a: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383628"/>
                  </a:ext>
                </a:extLst>
              </a:tr>
            </a:tbl>
          </a:graphicData>
        </a:graphic>
      </p:graphicFrame>
      <p:grpSp>
        <p:nvGrpSpPr>
          <p:cNvPr id="297" name="Group 296">
            <a:extLst>
              <a:ext uri="{FF2B5EF4-FFF2-40B4-BE49-F238E27FC236}">
                <a16:creationId xmlns:a16="http://schemas.microsoft.com/office/drawing/2014/main" id="{7C6ADEC2-5865-43C3-B275-97C28E0A12FA}"/>
              </a:ext>
            </a:extLst>
          </p:cNvPr>
          <p:cNvGrpSpPr/>
          <p:nvPr/>
        </p:nvGrpSpPr>
        <p:grpSpPr>
          <a:xfrm>
            <a:off x="3627786" y="4124577"/>
            <a:ext cx="1936263" cy="2427841"/>
            <a:chOff x="1292300" y="1542111"/>
            <a:chExt cx="2155749" cy="3763815"/>
          </a:xfrm>
        </p:grpSpPr>
        <p:sp>
          <p:nvSpPr>
            <p:cNvPr id="298" name="Rectangle: Rounded Corners 297">
              <a:extLst>
                <a:ext uri="{FF2B5EF4-FFF2-40B4-BE49-F238E27FC236}">
                  <a16:creationId xmlns:a16="http://schemas.microsoft.com/office/drawing/2014/main" id="{550D67E4-74B2-40AB-822B-A117A3A1954D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107F72AB-BAEF-484B-B666-D97B81E798B7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FAC09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البكج الرابع  </a:t>
              </a:r>
              <a:r>
                <a:rPr lang="ar-IQ" sz="726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tx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300" name="Rectangle: Rounded Corners 299">
              <a:extLst>
                <a:ext uri="{FF2B5EF4-FFF2-40B4-BE49-F238E27FC236}">
                  <a16:creationId xmlns:a16="http://schemas.microsoft.com/office/drawing/2014/main" id="{CAC5FAEE-B42C-41C2-8182-58251AF9B8C8}"/>
                </a:ext>
              </a:extLst>
            </p:cNvPr>
            <p:cNvSpPr/>
            <p:nvPr/>
          </p:nvSpPr>
          <p:spPr>
            <a:xfrm>
              <a:off x="1693129" y="4909489"/>
              <a:ext cx="1356156" cy="316728"/>
            </a:xfrm>
            <a:prstGeom prst="roundRect">
              <a:avLst>
                <a:gd name="adj" fmla="val 50000"/>
              </a:avLst>
            </a:prstGeom>
            <a:solidFill>
              <a:srgbClr val="FAC09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اربع نجوم مميز</a:t>
              </a:r>
            </a:p>
          </p:txBody>
        </p:sp>
      </p:grpSp>
      <p:sp>
        <p:nvSpPr>
          <p:cNvPr id="301" name="Rectangle: Rounded Corners 300">
            <a:extLst>
              <a:ext uri="{FF2B5EF4-FFF2-40B4-BE49-F238E27FC236}">
                <a16:creationId xmlns:a16="http://schemas.microsoft.com/office/drawing/2014/main" id="{84B8A4CA-4B97-4905-86F2-7FFEE12294A7}"/>
              </a:ext>
            </a:extLst>
          </p:cNvPr>
          <p:cNvSpPr/>
          <p:nvPr/>
        </p:nvSpPr>
        <p:spPr>
          <a:xfrm>
            <a:off x="3726335" y="4401844"/>
            <a:ext cx="796921" cy="489412"/>
          </a:xfrm>
          <a:prstGeom prst="roundRect">
            <a:avLst/>
          </a:prstGeom>
          <a:solidFill>
            <a:srgbClr val="FAC09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02" name="PW4">
            <a:extLst>
              <a:ext uri="{FF2B5EF4-FFF2-40B4-BE49-F238E27FC236}">
                <a16:creationId xmlns:a16="http://schemas.microsoft.com/office/drawing/2014/main" id="{A2C207A6-E970-47D0-AD67-9C981DDAAAB7}"/>
              </a:ext>
            </a:extLst>
          </p:cNvPr>
          <p:cNvSpPr txBox="1"/>
          <p:nvPr/>
        </p:nvSpPr>
        <p:spPr>
          <a:xfrm>
            <a:off x="3662440" y="4381961"/>
            <a:ext cx="944445" cy="53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52" b="1" dirty="0">
                <a:solidFill>
                  <a:srgbClr val="0070C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{{O4_Price_NV}}</a:t>
            </a:r>
            <a:endParaRPr lang="ar-IQ" sz="635" b="1" dirty="0">
              <a:solidFill>
                <a:srgbClr val="0070C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03" name="Rectangle: Rounded Corners 302">
            <a:extLst>
              <a:ext uri="{FF2B5EF4-FFF2-40B4-BE49-F238E27FC236}">
                <a16:creationId xmlns:a16="http://schemas.microsoft.com/office/drawing/2014/main" id="{E18264C4-407C-4EB5-948A-9489BED78CA7}"/>
              </a:ext>
            </a:extLst>
          </p:cNvPr>
          <p:cNvSpPr/>
          <p:nvPr/>
        </p:nvSpPr>
        <p:spPr>
          <a:xfrm>
            <a:off x="4671452" y="4401844"/>
            <a:ext cx="796921" cy="489412"/>
          </a:xfrm>
          <a:prstGeom prst="roundRect">
            <a:avLst/>
          </a:prstGeom>
          <a:solidFill>
            <a:srgbClr val="FAC09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04" name="PV4">
            <a:extLst>
              <a:ext uri="{FF2B5EF4-FFF2-40B4-BE49-F238E27FC236}">
                <a16:creationId xmlns:a16="http://schemas.microsoft.com/office/drawing/2014/main" id="{DCC3E7AE-7C6C-4551-9D25-991395A6DC53}"/>
              </a:ext>
            </a:extLst>
          </p:cNvPr>
          <p:cNvSpPr txBox="1"/>
          <p:nvPr/>
        </p:nvSpPr>
        <p:spPr>
          <a:xfrm>
            <a:off x="4355905" y="4450408"/>
            <a:ext cx="1372492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52" b="1" dirty="0">
                <a:latin typeface="Tajawal" panose="00000500000000000000" pitchFamily="2" charset="-78"/>
                <a:cs typeface="Tajawal" panose="00000500000000000000" pitchFamily="2" charset="-78"/>
              </a:rPr>
              <a:t>{{O4_Price_V}}</a:t>
            </a:r>
            <a:endParaRPr lang="en-US" sz="726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aphicFrame>
        <p:nvGraphicFramePr>
          <p:cNvPr id="305" name="DBL5">
            <a:extLst>
              <a:ext uri="{FF2B5EF4-FFF2-40B4-BE49-F238E27FC236}">
                <a16:creationId xmlns:a16="http://schemas.microsoft.com/office/drawing/2014/main" id="{289412DC-3C96-43E7-9AE7-A3F403266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475490"/>
              </p:ext>
            </p:extLst>
          </p:nvPr>
        </p:nvGraphicFramePr>
        <p:xfrm>
          <a:off x="3734119" y="4896507"/>
          <a:ext cx="1778901" cy="15923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1593">
                  <a:extLst>
                    <a:ext uri="{9D8B030D-6E8A-4147-A177-3AD203B41FA5}">
                      <a16:colId xmlns:a16="http://schemas.microsoft.com/office/drawing/2014/main" val="426736358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36181799"/>
                    </a:ext>
                  </a:extLst>
                </a:gridCol>
                <a:gridCol w="977708">
                  <a:extLst>
                    <a:ext uri="{9D8B030D-6E8A-4147-A177-3AD203B41FA5}">
                      <a16:colId xmlns:a16="http://schemas.microsoft.com/office/drawing/2014/main" val="208932020"/>
                    </a:ext>
                  </a:extLst>
                </a:gridCol>
              </a:tblGrid>
              <a:tr h="2213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{#hotels_4}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899854"/>
                  </a:ext>
                </a:extLst>
              </a:tr>
              <a:tr h="221300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{{nights}}</a:t>
                      </a:r>
                    </a:p>
                  </a:txBody>
                  <a:tcPr marL="82988" marR="82988" marT="41494" marB="4149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{{city}}</a:t>
                      </a:r>
                    </a:p>
                  </a:txBody>
                  <a:tcPr marL="82988" marR="82988" marT="41494" marB="4149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{{hotel}}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565218"/>
                  </a:ext>
                </a:extLst>
              </a:tr>
              <a:tr h="221300">
                <a:tc gridSpan="3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{/hotels_4}</a:t>
                      </a:r>
                    </a:p>
                  </a:txBody>
                  <a:tcPr marL="82988" marR="82988" marT="41494" marB="4149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693868"/>
                  </a:ext>
                </a:extLst>
              </a:tr>
            </a:tbl>
          </a:graphicData>
        </a:graphic>
      </p:graphicFrame>
      <p:pic>
        <p:nvPicPr>
          <p:cNvPr id="357" name="Graphic 356">
            <a:extLst>
              <a:ext uri="{FF2B5EF4-FFF2-40B4-BE49-F238E27FC236}">
                <a16:creationId xmlns:a16="http://schemas.microsoft.com/office/drawing/2014/main" id="{B5B4F419-25D0-419B-83CE-0CDDB0751AC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22227" b="21214"/>
          <a:stretch/>
        </p:blipFill>
        <p:spPr>
          <a:xfrm flipH="1">
            <a:off x="1619451" y="7507341"/>
            <a:ext cx="5059895" cy="13692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5591421-B0AF-4736-B151-EBA4FB670AC5}"/>
              </a:ext>
            </a:extLst>
          </p:cNvPr>
          <p:cNvSpPr txBox="1"/>
          <p:nvPr/>
        </p:nvSpPr>
        <p:spPr>
          <a:xfrm>
            <a:off x="1641596" y="7677304"/>
            <a:ext cx="4890678" cy="1238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5608" indent="-155608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IQ" sz="908" b="1" dirty="0">
                <a:latin typeface="Tajawal" panose="00000500000000000000" pitchFamily="2" charset="-78"/>
                <a:cs typeface="Tajawal" panose="00000500000000000000" pitchFamily="2" charset="-78"/>
              </a:rPr>
              <a:t>الفنادق لدينا ارخص من مواقع الحجوزات ! والدفع بعد الوصول الى جورجيا</a:t>
            </a:r>
          </a:p>
          <a:p>
            <a:pPr marL="155608" indent="-155608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IQ" sz="908" b="1" dirty="0">
                <a:latin typeface="Tajawal" panose="00000500000000000000" pitchFamily="2" charset="-78"/>
                <a:cs typeface="Tajawal" panose="00000500000000000000" pitchFamily="2" charset="-78"/>
              </a:rPr>
              <a:t>نختار لأقامتك افضل الخيارات لذلك توجد أسعار اقل بخدمة او بجودة اقل ! فعالم الفخامة تحب ان يكون عمليها مرتاح  في الرحلة </a:t>
            </a:r>
          </a:p>
          <a:p>
            <a:pPr marL="155608" indent="-155608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IQ" sz="908" b="1" dirty="0">
                <a:latin typeface="Tajawal" panose="00000500000000000000" pitchFamily="2" charset="-78"/>
                <a:cs typeface="Tajawal" panose="00000500000000000000" pitchFamily="2" charset="-78"/>
              </a:rPr>
              <a:t>البرنامج </a:t>
            </a:r>
            <a:r>
              <a:rPr lang="ar-IQ" sz="908" b="1" dirty="0">
                <a:solidFill>
                  <a:srgbClr val="F61828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قابل للتغير </a:t>
            </a:r>
            <a:r>
              <a:rPr lang="ar-IQ" sz="908" b="1" dirty="0">
                <a:latin typeface="Tajawal" panose="00000500000000000000" pitchFamily="2" charset="-78"/>
                <a:cs typeface="Tajawal" panose="00000500000000000000" pitchFamily="2" charset="-78"/>
              </a:rPr>
              <a:t>مثلما تريد الرحلة رحلتك و نحن ننفذ .</a:t>
            </a:r>
          </a:p>
          <a:p>
            <a:pPr marL="155608" indent="-155608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IQ" sz="908" b="1" dirty="0">
                <a:solidFill>
                  <a:srgbClr val="F61828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الدفع كاش بعملة الدولار الأمريكي واذا كان بالبطاقة البنكية يضاف </a:t>
            </a:r>
            <a:r>
              <a:rPr lang="en-US" sz="908" b="1" dirty="0">
                <a:solidFill>
                  <a:srgbClr val="F61828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5</a:t>
            </a:r>
            <a:r>
              <a:rPr lang="ar-IQ" sz="908" b="1" dirty="0">
                <a:solidFill>
                  <a:srgbClr val="F61828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% عمولة . </a:t>
            </a:r>
          </a:p>
          <a:p>
            <a:endParaRPr lang="en-US" sz="635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29" name="D2">
            <a:extLst>
              <a:ext uri="{FF2B5EF4-FFF2-40B4-BE49-F238E27FC236}">
                <a16:creationId xmlns:a16="http://schemas.microsoft.com/office/drawing/2014/main" id="{B13A16AD-097E-4A28-91E7-8F2E584CD26E}"/>
              </a:ext>
            </a:extLst>
          </p:cNvPr>
          <p:cNvSpPr txBox="1"/>
          <p:nvPr/>
        </p:nvSpPr>
        <p:spPr>
          <a:xfrm>
            <a:off x="5311731" y="137735"/>
            <a:ext cx="745176" cy="2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089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10</a:t>
            </a:r>
            <a:endParaRPr lang="ar-IQ" sz="1089" b="1" dirty="0">
              <a:solidFill>
                <a:srgbClr val="FFFF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30" name="N2">
            <a:extLst>
              <a:ext uri="{FF2B5EF4-FFF2-40B4-BE49-F238E27FC236}">
                <a16:creationId xmlns:a16="http://schemas.microsoft.com/office/drawing/2014/main" id="{89E53B80-E97E-4E7E-9E07-4853DA8D6867}"/>
              </a:ext>
            </a:extLst>
          </p:cNvPr>
          <p:cNvSpPr txBox="1"/>
          <p:nvPr/>
        </p:nvSpPr>
        <p:spPr>
          <a:xfrm>
            <a:off x="5273884" y="343778"/>
            <a:ext cx="822116" cy="2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089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9</a:t>
            </a:r>
            <a:endParaRPr lang="ar-IQ" sz="1089" b="1" dirty="0">
              <a:solidFill>
                <a:srgbClr val="FFFF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065937A-F740-4C42-B42A-F46F24683316}"/>
              </a:ext>
            </a:extLst>
          </p:cNvPr>
          <p:cNvSpPr txBox="1"/>
          <p:nvPr/>
        </p:nvSpPr>
        <p:spPr>
          <a:xfrm>
            <a:off x="5906818" y="334447"/>
            <a:ext cx="908181" cy="427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IQ" sz="1089" b="1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عدد الليالي:	</a:t>
            </a:r>
            <a:endParaRPr lang="ar-IQ" sz="1089" b="1" dirty="0">
              <a:solidFill>
                <a:srgbClr val="FFFF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32" name="DD2">
            <a:extLst>
              <a:ext uri="{FF2B5EF4-FFF2-40B4-BE49-F238E27FC236}">
                <a16:creationId xmlns:a16="http://schemas.microsoft.com/office/drawing/2014/main" id="{46F33827-4B7E-47AC-A2A8-41AF5A1A51C9}"/>
              </a:ext>
            </a:extLst>
          </p:cNvPr>
          <p:cNvSpPr txBox="1"/>
          <p:nvPr/>
        </p:nvSpPr>
        <p:spPr>
          <a:xfrm>
            <a:off x="4919634" y="137477"/>
            <a:ext cx="553826" cy="2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IQ" sz="1089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أيام</a:t>
            </a:r>
          </a:p>
        </p:txBody>
      </p:sp>
      <p:sp>
        <p:nvSpPr>
          <p:cNvPr id="133" name="NT2">
            <a:extLst>
              <a:ext uri="{FF2B5EF4-FFF2-40B4-BE49-F238E27FC236}">
                <a16:creationId xmlns:a16="http://schemas.microsoft.com/office/drawing/2014/main" id="{DCD205F9-C0EB-46FE-BAB2-8C3DD40C2485}"/>
              </a:ext>
            </a:extLst>
          </p:cNvPr>
          <p:cNvSpPr txBox="1"/>
          <p:nvPr/>
        </p:nvSpPr>
        <p:spPr>
          <a:xfrm>
            <a:off x="4845390" y="314913"/>
            <a:ext cx="622983" cy="2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IQ" sz="1089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ليالي</a:t>
            </a:r>
          </a:p>
        </p:txBody>
      </p:sp>
      <p:pic>
        <p:nvPicPr>
          <p:cNvPr id="134" name="Picture 133">
            <a:extLst>
              <a:ext uri="{FF2B5EF4-FFF2-40B4-BE49-F238E27FC236}">
                <a16:creationId xmlns:a16="http://schemas.microsoft.com/office/drawing/2014/main" id="{760AE6EB-BAA4-43AA-B47D-D2101010069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35" y="8855"/>
            <a:ext cx="2133172" cy="726611"/>
          </a:xfrm>
          <a:prstGeom prst="rect">
            <a:avLst/>
          </a:prstGeom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A54F82AD-D3EF-4169-8185-E4DB72FC6291}"/>
              </a:ext>
            </a:extLst>
          </p:cNvPr>
          <p:cNvSpPr txBox="1"/>
          <p:nvPr/>
        </p:nvSpPr>
        <p:spPr>
          <a:xfrm>
            <a:off x="2976402" y="112049"/>
            <a:ext cx="1251427" cy="2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089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</a:t>
            </a:r>
            <a:r>
              <a:rPr lang="en-US" sz="1089" b="1" dirty="0" err="1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Rooms_Count</a:t>
            </a:r>
            <a:r>
              <a:rPr lang="en-US" sz="1089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}}</a:t>
            </a:r>
            <a:endParaRPr lang="ar-IQ" sz="1089" b="1" dirty="0">
              <a:solidFill>
                <a:srgbClr val="FFFF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4187523-1013-4C6E-9DDD-8C148AE38E7D}"/>
              </a:ext>
            </a:extLst>
          </p:cNvPr>
          <p:cNvSpPr txBox="1"/>
          <p:nvPr/>
        </p:nvSpPr>
        <p:spPr>
          <a:xfrm>
            <a:off x="1974467" y="330119"/>
            <a:ext cx="2189185" cy="2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089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</a:t>
            </a:r>
            <a:r>
              <a:rPr lang="en-US" sz="1089" b="1" dirty="0" err="1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Room_Types</a:t>
            </a:r>
            <a:r>
              <a:rPr lang="en-US" sz="1089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}}</a:t>
            </a:r>
            <a:endParaRPr lang="ar-IQ" sz="1089" b="1" dirty="0">
              <a:solidFill>
                <a:srgbClr val="FFFF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140" name="Graphic 139">
            <a:extLst>
              <a:ext uri="{FF2B5EF4-FFF2-40B4-BE49-F238E27FC236}">
                <a16:creationId xmlns:a16="http://schemas.microsoft.com/office/drawing/2014/main" id="{05A879C2-7195-4C3A-91E0-DD2FC256687F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22227" b="21214"/>
          <a:stretch/>
        </p:blipFill>
        <p:spPr>
          <a:xfrm flipH="1">
            <a:off x="71645" y="7676039"/>
            <a:ext cx="1594972" cy="12005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8E7B46-1DCD-483C-842B-3D829556D431}"/>
              </a:ext>
            </a:extLst>
          </p:cNvPr>
          <p:cNvSpPr txBox="1"/>
          <p:nvPr/>
        </p:nvSpPr>
        <p:spPr>
          <a:xfrm>
            <a:off x="171251" y="7728970"/>
            <a:ext cx="1594972" cy="287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IQ" sz="1271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jawal" panose="00000500000000000000" pitchFamily="2" charset="-78"/>
                <a:cs typeface="Tajawal" panose="00000500000000000000" pitchFamily="2" charset="-78"/>
              </a:rPr>
              <a:t>للتأكيد فقط ارسل</a:t>
            </a:r>
            <a:endParaRPr lang="en-US" sz="1271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54A4CEB-8520-4E7E-96EC-B0FE09F677EA}"/>
              </a:ext>
            </a:extLst>
          </p:cNvPr>
          <p:cNvSpPr txBox="1"/>
          <p:nvPr/>
        </p:nvSpPr>
        <p:spPr>
          <a:xfrm>
            <a:off x="116933" y="7983329"/>
            <a:ext cx="1431679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jawal" panose="00000500000000000000" pitchFamily="2" charset="-78"/>
                <a:cs typeface="Tajawal" panose="00000500000000000000" pitchFamily="2" charset="-78"/>
              </a:rPr>
              <a:t>جوازات السفر لأصدار الحجوزات و تأمين السفر </a:t>
            </a:r>
            <a:endParaRPr lang="en-US" sz="908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57D29BE-C551-42FB-A13B-66417464D98E}"/>
              </a:ext>
            </a:extLst>
          </p:cNvPr>
          <p:cNvSpPr txBox="1"/>
          <p:nvPr/>
        </p:nvSpPr>
        <p:spPr>
          <a:xfrm>
            <a:off x="164629" y="8359277"/>
            <a:ext cx="1399213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jawal" panose="00000500000000000000" pitchFamily="2" charset="-78"/>
                <a:cs typeface="Tajawal" panose="00000500000000000000" pitchFamily="2" charset="-78"/>
              </a:rPr>
              <a:t>وتذاكر السفر موضح بها الوصول و المغادرة </a:t>
            </a:r>
            <a:endParaRPr lang="en-US" sz="908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AF91C7-D04D-4A0E-9BA5-586B5120AADD}"/>
              </a:ext>
            </a:extLst>
          </p:cNvPr>
          <p:cNvSpPr/>
          <p:nvPr/>
        </p:nvSpPr>
        <p:spPr>
          <a:xfrm>
            <a:off x="4196971" y="7432896"/>
            <a:ext cx="2460009" cy="363106"/>
          </a:xfrm>
          <a:prstGeom prst="rect">
            <a:avLst/>
          </a:prstGeom>
          <a:noFill/>
        </p:spPr>
        <p:txBody>
          <a:bodyPr wrap="square" lIns="82988" tIns="41494" rIns="82988" bIns="41494">
            <a:spAutoFit/>
          </a:bodyPr>
          <a:lstStyle/>
          <a:p>
            <a:pPr algn="ctr"/>
            <a:r>
              <a:rPr lang="ar-IQ" sz="1815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ajawal" panose="00000500000000000000" pitchFamily="2" charset="-78"/>
                <a:cs typeface="Tajawal" panose="00000500000000000000" pitchFamily="2" charset="-78"/>
              </a:rPr>
              <a:t>ملاحظات مهمة</a:t>
            </a:r>
            <a:endParaRPr lang="en-US" sz="1815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34A06A20-835B-43FA-8ABB-0EC349261668}"/>
              </a:ext>
            </a:extLst>
          </p:cNvPr>
          <p:cNvSpPr txBox="1"/>
          <p:nvPr/>
        </p:nvSpPr>
        <p:spPr>
          <a:xfrm>
            <a:off x="72119" y="8914627"/>
            <a:ext cx="6669368" cy="76277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 rtl="1"/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أننا نعتز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بهويتنا الأسلامية 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ولا نتخلى عن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مبادئنا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و منعنا هذه الامور التي يتم طلبها من (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قلة من الاشخاص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) و لانها تنافى تعاليم ديننا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الاسلامى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واخلاق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المسلمين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، فأنها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منعت منعاً باتاً 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ولمن يطلب هذه الامور تعتبر الرحلة ملغية: 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البغاء و المراقص وما شابهها و المشروبات الكحولية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، اذ كان طلبك يشابه المحرم فلا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تُتَمِمَ الحجز معنا فالعوائل أولى بخدماتنا 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.. واذا ثبت هذه الأمور اثناء الرحلة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سيتم الغاء الحجوزات و المبلغ غير مسترجع كلياً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FF00D1-CF20-493C-BBB4-7CF1C86A5135}"/>
              </a:ext>
            </a:extLst>
          </p:cNvPr>
          <p:cNvSpPr txBox="1"/>
          <p:nvPr/>
        </p:nvSpPr>
        <p:spPr>
          <a:xfrm>
            <a:off x="3450950" y="2261203"/>
            <a:ext cx="8803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91142D0-2D0D-4864-93AB-05FCEBFF4947}"/>
              </a:ext>
            </a:extLst>
          </p:cNvPr>
          <p:cNvSpPr txBox="1"/>
          <p:nvPr/>
        </p:nvSpPr>
        <p:spPr>
          <a:xfrm>
            <a:off x="2635236" y="2180824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ar-IQ" sz="700" b="1" dirty="0">
                <a:solidFill>
                  <a:srgbClr val="C00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r>
              <a:rPr lang="ar-IQ" sz="700" b="1" dirty="0">
                <a:solidFill>
                  <a:srgbClr val="C00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52E94FB-293D-4A66-B700-7450660C71B2}"/>
              </a:ext>
            </a:extLst>
          </p:cNvPr>
          <p:cNvSpPr txBox="1"/>
          <p:nvPr/>
        </p:nvSpPr>
        <p:spPr>
          <a:xfrm>
            <a:off x="5668764" y="2234400"/>
            <a:ext cx="8787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  <a:endParaRPr lang="en-US" sz="700" dirty="0">
              <a:solidFill>
                <a:schemeClr val="bg1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BD599F9-8294-4737-9BD5-54DDA080FA7D}"/>
              </a:ext>
            </a:extLst>
          </p:cNvPr>
          <p:cNvSpPr txBox="1"/>
          <p:nvPr/>
        </p:nvSpPr>
        <p:spPr>
          <a:xfrm>
            <a:off x="4817217" y="2137950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  <a:endParaRPr lang="en-US" sz="700" dirty="0">
              <a:solidFill>
                <a:schemeClr val="bg1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46864D8-64DE-4D1F-96B1-0162E7AB22DD}"/>
              </a:ext>
            </a:extLst>
          </p:cNvPr>
          <p:cNvSpPr txBox="1"/>
          <p:nvPr/>
        </p:nvSpPr>
        <p:spPr>
          <a:xfrm>
            <a:off x="1297114" y="2274793"/>
            <a:ext cx="8803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4CEA6ED-85F6-40B4-9FC1-499CECF8DAB4}"/>
              </a:ext>
            </a:extLst>
          </p:cNvPr>
          <p:cNvSpPr txBox="1"/>
          <p:nvPr/>
        </p:nvSpPr>
        <p:spPr>
          <a:xfrm>
            <a:off x="454835" y="2167970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8398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IQ" sz="7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pPr marL="0" marR="0" lvl="0" indent="0" algn="l" defTabSz="8398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IQ" sz="7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EB6709E-4C0C-4445-ADB5-16CB3C6D29B9}"/>
              </a:ext>
            </a:extLst>
          </p:cNvPr>
          <p:cNvSpPr txBox="1"/>
          <p:nvPr/>
        </p:nvSpPr>
        <p:spPr>
          <a:xfrm>
            <a:off x="2448101" y="4649278"/>
            <a:ext cx="8803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F212D34-0559-44D1-AFA4-DD6405A0C54E}"/>
              </a:ext>
            </a:extLst>
          </p:cNvPr>
          <p:cNvSpPr txBox="1"/>
          <p:nvPr/>
        </p:nvSpPr>
        <p:spPr>
          <a:xfrm>
            <a:off x="1629808" y="4608304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8398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IQ" sz="7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pPr marL="0" marR="0" lvl="0" indent="0" algn="l" defTabSz="8398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IQ" sz="7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82A652C-C407-49A7-AB74-8039286D0015}"/>
              </a:ext>
            </a:extLst>
          </p:cNvPr>
          <p:cNvSpPr txBox="1"/>
          <p:nvPr/>
        </p:nvSpPr>
        <p:spPr>
          <a:xfrm>
            <a:off x="4665915" y="4675485"/>
            <a:ext cx="8803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C0DCC16-1971-412A-99B4-6C22C7FFEB67}"/>
              </a:ext>
            </a:extLst>
          </p:cNvPr>
          <p:cNvSpPr txBox="1"/>
          <p:nvPr/>
        </p:nvSpPr>
        <p:spPr>
          <a:xfrm>
            <a:off x="3822852" y="4584829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ar-IQ" sz="700" b="1" dirty="0">
                <a:solidFill>
                  <a:srgbClr val="0070C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r>
              <a:rPr lang="ar-IQ" sz="700" b="1" dirty="0">
                <a:solidFill>
                  <a:srgbClr val="0070C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  <a:endParaRPr lang="en-US" sz="700" dirty="0">
              <a:solidFill>
                <a:srgbClr val="0070C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C6B5F73-7C72-4FB0-97C5-DAD379AA79E1}"/>
              </a:ext>
            </a:extLst>
          </p:cNvPr>
          <p:cNvSpPr txBox="1"/>
          <p:nvPr/>
        </p:nvSpPr>
        <p:spPr>
          <a:xfrm>
            <a:off x="2833889" y="7074661"/>
            <a:ext cx="545829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إفطار</a:t>
            </a:r>
          </a:p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يومياً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15BD077-A67D-41C1-9D38-49978DEF426C}"/>
              </a:ext>
            </a:extLst>
          </p:cNvPr>
          <p:cNvSpPr txBox="1"/>
          <p:nvPr/>
        </p:nvSpPr>
        <p:spPr>
          <a:xfrm>
            <a:off x="2390425" y="7080768"/>
            <a:ext cx="545829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تأمين</a:t>
            </a:r>
            <a:b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</a:br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سفر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8F0B00F-5185-4EB8-9340-4270F64019D3}"/>
              </a:ext>
            </a:extLst>
          </p:cNvPr>
          <p:cNvSpPr txBox="1"/>
          <p:nvPr/>
        </p:nvSpPr>
        <p:spPr>
          <a:xfrm>
            <a:off x="1846792" y="7067750"/>
            <a:ext cx="634856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استقبال</a:t>
            </a:r>
            <a:b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</a:br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وتوديع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C3578F53-2109-419E-94B9-852EB1C82BFA}"/>
              </a:ext>
            </a:extLst>
          </p:cNvPr>
          <p:cNvSpPr txBox="1"/>
          <p:nvPr/>
        </p:nvSpPr>
        <p:spPr>
          <a:xfrm>
            <a:off x="1371657" y="7067750"/>
            <a:ext cx="634856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سيارة</a:t>
            </a:r>
          </a:p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خاصة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62832A5-86EA-4473-AC9D-F0A204E4F8B1}"/>
              </a:ext>
            </a:extLst>
          </p:cNvPr>
          <p:cNvSpPr txBox="1"/>
          <p:nvPr/>
        </p:nvSpPr>
        <p:spPr>
          <a:xfrm>
            <a:off x="914959" y="7074449"/>
            <a:ext cx="634856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إقامة</a:t>
            </a:r>
          </a:p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فندقية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C391930-A973-4A7B-A5AA-CBD752835242}"/>
              </a:ext>
            </a:extLst>
          </p:cNvPr>
          <p:cNvSpPr txBox="1"/>
          <p:nvPr/>
        </p:nvSpPr>
        <p:spPr>
          <a:xfrm>
            <a:off x="394677" y="7074449"/>
            <a:ext cx="691223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التنقلات بين المدن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53616A8-75D4-4B53-957D-1EE00F1DAFEB}"/>
              </a:ext>
            </a:extLst>
          </p:cNvPr>
          <p:cNvSpPr/>
          <p:nvPr/>
        </p:nvSpPr>
        <p:spPr>
          <a:xfrm>
            <a:off x="3836802" y="6619913"/>
            <a:ext cx="2899898" cy="822462"/>
          </a:xfrm>
          <a:prstGeom prst="rect">
            <a:avLst/>
          </a:prstGeom>
          <a:noFill/>
        </p:spPr>
        <p:txBody>
          <a:bodyPr wrap="square" lIns="82988" tIns="41494" rIns="82988" bIns="41494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ar-IQ" sz="2400" b="1" dirty="0">
                <a:ln/>
                <a:solidFill>
                  <a:schemeClr val="accent4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تشمل العروض على الخدمات التالية : </a:t>
            </a:r>
            <a:endParaRPr lang="en-US" sz="2400" b="1" dirty="0">
              <a:ln/>
              <a:solidFill>
                <a:schemeClr val="accent4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25" name="Flowchart: Alternate Process 124">
            <a:extLst>
              <a:ext uri="{FF2B5EF4-FFF2-40B4-BE49-F238E27FC236}">
                <a16:creationId xmlns:a16="http://schemas.microsoft.com/office/drawing/2014/main" id="{ED1B4910-8D44-4879-A8C2-7191080A848F}"/>
              </a:ext>
            </a:extLst>
          </p:cNvPr>
          <p:cNvSpPr/>
          <p:nvPr/>
        </p:nvSpPr>
        <p:spPr>
          <a:xfrm>
            <a:off x="5502197" y="1967313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6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B1C50D91-4EC5-42BE-95FB-E0BD5F317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548" y="2011365"/>
            <a:ext cx="162887" cy="16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E9E27599-BBE8-4D3E-A867-0179CB71A85B}"/>
              </a:ext>
            </a:extLst>
          </p:cNvPr>
          <p:cNvSpPr txBox="1"/>
          <p:nvPr/>
        </p:nvSpPr>
        <p:spPr>
          <a:xfrm>
            <a:off x="5448916" y="2141793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sp>
        <p:nvSpPr>
          <p:cNvPr id="142" name="Flowchart: Alternate Process 141">
            <a:extLst>
              <a:ext uri="{FF2B5EF4-FFF2-40B4-BE49-F238E27FC236}">
                <a16:creationId xmlns:a16="http://schemas.microsoft.com/office/drawing/2014/main" id="{804F3CEA-B5C5-4FC1-9E0C-01803447D4B4}"/>
              </a:ext>
            </a:extLst>
          </p:cNvPr>
          <p:cNvSpPr/>
          <p:nvPr/>
        </p:nvSpPr>
        <p:spPr>
          <a:xfrm>
            <a:off x="3309031" y="2014522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8D26A7C8-098C-47AF-B89F-5EA22167E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529" y="2070741"/>
            <a:ext cx="149444" cy="149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35DF188C-09E9-42C1-98A6-71E57C337661}"/>
              </a:ext>
            </a:extLst>
          </p:cNvPr>
          <p:cNvSpPr txBox="1"/>
          <p:nvPr/>
        </p:nvSpPr>
        <p:spPr>
          <a:xfrm>
            <a:off x="3251025" y="2192292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sp>
        <p:nvSpPr>
          <p:cNvPr id="146" name="Flowchart: Alternate Process 145">
            <a:extLst>
              <a:ext uri="{FF2B5EF4-FFF2-40B4-BE49-F238E27FC236}">
                <a16:creationId xmlns:a16="http://schemas.microsoft.com/office/drawing/2014/main" id="{6473312C-22FB-425F-AA0A-A3015A48A1EC}"/>
              </a:ext>
            </a:extLst>
          </p:cNvPr>
          <p:cNvSpPr/>
          <p:nvPr/>
        </p:nvSpPr>
        <p:spPr>
          <a:xfrm>
            <a:off x="1127220" y="2002218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0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7895FB19-5456-478E-84B7-8E68C052F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897" y="2063489"/>
            <a:ext cx="150981" cy="15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5" name="TextBox 154">
            <a:extLst>
              <a:ext uri="{FF2B5EF4-FFF2-40B4-BE49-F238E27FC236}">
                <a16:creationId xmlns:a16="http://schemas.microsoft.com/office/drawing/2014/main" id="{C134F595-2969-4541-A7C0-DC41353BB3E0}"/>
              </a:ext>
            </a:extLst>
          </p:cNvPr>
          <p:cNvSpPr txBox="1"/>
          <p:nvPr/>
        </p:nvSpPr>
        <p:spPr>
          <a:xfrm>
            <a:off x="1065255" y="2175074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sp>
        <p:nvSpPr>
          <p:cNvPr id="156" name="Flowchart: Alternate Process 155">
            <a:extLst>
              <a:ext uri="{FF2B5EF4-FFF2-40B4-BE49-F238E27FC236}">
                <a16:creationId xmlns:a16="http://schemas.microsoft.com/office/drawing/2014/main" id="{3806AB53-5A89-4EF4-8052-E6633F30CBFC}"/>
              </a:ext>
            </a:extLst>
          </p:cNvPr>
          <p:cNvSpPr/>
          <p:nvPr/>
        </p:nvSpPr>
        <p:spPr>
          <a:xfrm>
            <a:off x="4507206" y="4431819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7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CB5D455A-689A-43BE-8132-03D19C12A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130" y="4499951"/>
            <a:ext cx="149007" cy="149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8" name="TextBox 157">
            <a:extLst>
              <a:ext uri="{FF2B5EF4-FFF2-40B4-BE49-F238E27FC236}">
                <a16:creationId xmlns:a16="http://schemas.microsoft.com/office/drawing/2014/main" id="{84492812-9357-430C-845C-C820FB2767F1}"/>
              </a:ext>
            </a:extLst>
          </p:cNvPr>
          <p:cNvSpPr txBox="1"/>
          <p:nvPr/>
        </p:nvSpPr>
        <p:spPr>
          <a:xfrm>
            <a:off x="4452359" y="4630917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sp>
        <p:nvSpPr>
          <p:cNvPr id="159" name="Flowchart: Alternate Process 158">
            <a:extLst>
              <a:ext uri="{FF2B5EF4-FFF2-40B4-BE49-F238E27FC236}">
                <a16:creationId xmlns:a16="http://schemas.microsoft.com/office/drawing/2014/main" id="{3542B49F-BFA4-4E7D-9DD3-0867AED0BA7E}"/>
              </a:ext>
            </a:extLst>
          </p:cNvPr>
          <p:cNvSpPr/>
          <p:nvPr/>
        </p:nvSpPr>
        <p:spPr>
          <a:xfrm>
            <a:off x="2306681" y="4424714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0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0A26B011-BD33-4BAA-82E3-9FB1EDE58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526" y="4478004"/>
            <a:ext cx="158432" cy="15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1" name="TextBox 160">
            <a:extLst>
              <a:ext uri="{FF2B5EF4-FFF2-40B4-BE49-F238E27FC236}">
                <a16:creationId xmlns:a16="http://schemas.microsoft.com/office/drawing/2014/main" id="{1BE632C5-498A-41FB-81BA-71F371CFC415}"/>
              </a:ext>
            </a:extLst>
          </p:cNvPr>
          <p:cNvSpPr txBox="1"/>
          <p:nvPr/>
        </p:nvSpPr>
        <p:spPr>
          <a:xfrm>
            <a:off x="2248472" y="4612031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graphicFrame>
        <p:nvGraphicFramePr>
          <p:cNvPr id="165" name="Table 3">
            <a:extLst>
              <a:ext uri="{FF2B5EF4-FFF2-40B4-BE49-F238E27FC236}">
                <a16:creationId xmlns:a16="http://schemas.microsoft.com/office/drawing/2014/main" id="{1A49E55E-836F-4DDA-B688-3F3682D188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756639"/>
              </p:ext>
            </p:extLst>
          </p:nvPr>
        </p:nvGraphicFramePr>
        <p:xfrm>
          <a:off x="247811" y="762769"/>
          <a:ext cx="6292295" cy="71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389">
                  <a:extLst>
                    <a:ext uri="{9D8B030D-6E8A-4147-A177-3AD203B41FA5}">
                      <a16:colId xmlns:a16="http://schemas.microsoft.com/office/drawing/2014/main" val="476577403"/>
                    </a:ext>
                  </a:extLst>
                </a:gridCol>
                <a:gridCol w="1129906">
                  <a:extLst>
                    <a:ext uri="{9D8B030D-6E8A-4147-A177-3AD203B41FA5}">
                      <a16:colId xmlns:a16="http://schemas.microsoft.com/office/drawing/2014/main" val="8880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ar-IQ" sz="800" b="1" dirty="0"/>
                        <a:t>مسار رحلتك 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IQ" sz="800" b="1" dirty="0"/>
                        <a:t>ملاحظة</a:t>
                      </a:r>
                      <a:endParaRPr lang="en-US" sz="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480119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rtl="1"/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IQ" sz="700" b="1" dirty="0"/>
                        <a:t>المبيت في تبليسي  </a:t>
                      </a:r>
                      <a:endParaRPr lang="en-US" sz="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7385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IQ" sz="700" b="1" dirty="0"/>
                        <a:t>اطلالة و بدون اطلالة نفس السعر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739366"/>
                  </a:ext>
                </a:extLst>
              </a:tr>
            </a:tbl>
          </a:graphicData>
        </a:graphic>
      </p:graphicFrame>
      <p:pic>
        <p:nvPicPr>
          <p:cNvPr id="166" name="Picture 165">
            <a:extLst>
              <a:ext uri="{FF2B5EF4-FFF2-40B4-BE49-F238E27FC236}">
                <a16:creationId xmlns:a16="http://schemas.microsoft.com/office/drawing/2014/main" id="{6613E68E-4D62-4F9A-B577-78BF0F4D318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435857" y="908314"/>
            <a:ext cx="451099" cy="451099"/>
          </a:xfrm>
          <a:prstGeom prst="rect">
            <a:avLst/>
          </a:prstGeom>
        </p:spPr>
      </p:pic>
      <p:sp>
        <p:nvSpPr>
          <p:cNvPr id="9" name="N2">
            <a:extLst>
              <a:ext uri="{FF2B5EF4-FFF2-40B4-BE49-F238E27FC236}">
                <a16:creationId xmlns:a16="http://schemas.microsoft.com/office/drawing/2014/main" id="{67B98DFC-509A-C78F-4AE5-4E28C01794D3}"/>
              </a:ext>
            </a:extLst>
          </p:cNvPr>
          <p:cNvSpPr txBox="1"/>
          <p:nvPr/>
        </p:nvSpPr>
        <p:spPr>
          <a:xfrm>
            <a:off x="609600" y="1095877"/>
            <a:ext cx="4714840" cy="2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089" b="1" dirty="0">
                <a:solidFill>
                  <a:srgbClr val="00206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تبليسي - باتومي - كوتايسي</a:t>
            </a:r>
            <a:endParaRPr lang="ar-IQ" sz="1089" b="1" dirty="0">
              <a:solidFill>
                <a:srgbClr val="00206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36577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Tajawal AAA">
      <a:majorFont>
        <a:latin typeface="Tajawal"/>
        <a:ea typeface=""/>
        <a:cs typeface="Tajawal"/>
      </a:majorFont>
      <a:minorFont>
        <a:latin typeface="Tajawal"/>
        <a:ea typeface=""/>
        <a:cs typeface="Tajaw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11403</TotalTime>
  <Words>523</Words>
  <Application>Microsoft Office PowerPoint</Application>
  <PresentationFormat>A4 Paper (210x297 mm)</PresentationFormat>
  <Paragraphs>108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Tajawal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lwiat</dc:creator>
  <cp:lastModifiedBy>al3r18y1@outlook.com</cp:lastModifiedBy>
  <cp:revision>700</cp:revision>
  <dcterms:created xsi:type="dcterms:W3CDTF">2023-04-07T10:41:02Z</dcterms:created>
  <dcterms:modified xsi:type="dcterms:W3CDTF">2026-03-06T22:40:13Z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2023-02-09T00:00:00Z</vt:filetime>
  </property>
  <property fmtid="{D5CDD505-2E9C-101B-9397-08002B2CF9AE}" pid="3" name="Creator">
    <vt:lpwstr>Adobe InDesign 18.1 (Macintosh)</vt:lpwstr>
  </property>
  <property fmtid="{D5CDD505-2E9C-101B-9397-08002B2CF9AE}" pid="4" name="LastSaved">
    <vt:filetime>2023-04-07T00:00:00Z</vt:filetime>
  </property>
</Properties>
</file>